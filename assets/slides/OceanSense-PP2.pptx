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70" r:id="rId5"/>
    <p:sldId id="281" r:id="rId6"/>
    <p:sldId id="271" r:id="rId7"/>
    <p:sldId id="282" r:id="rId8"/>
    <p:sldId id="283" r:id="rId9"/>
    <p:sldId id="27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253578-7C00-C640-9439-B1235C3B11BE}" v="148" dt="2026-01-06T16:37:18.375"/>
    <p1510:client id="{EC76DAFE-ACCA-4098-A7E6-082E057DE178}" v="79" dt="2026-01-06T11:00:57.724"/>
    <p1510:client id="{FD0F72CE-85CB-417C-BD4B-577282249248}" v="890" dt="2026-01-06T16:42:41.0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0A00E7-31A4-4346-B467-ECF77212844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2689E-876B-4467-8235-9740B8EA1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80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689E-876B-4467-8235-9740B8EA19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90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F7EA3-659C-6D29-EBC7-F2AF1977F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95ECC-E801-28F8-6EE5-C3B34E0BE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1FE75-CCA3-4C57-84B7-B47E8825B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28DEB-C9BE-4191-9A52-DCF2E86A971A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CB3F8-7695-B512-1A9D-5E964BA3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58B9E-FA7D-8EB6-AC53-540A6B49A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69B7-2BF6-DB91-9EC5-AD71DF8C2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F7312-FF7D-CE55-48EB-AF32A5FDD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E7FC7-6030-93C0-5458-6D46215DE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DBCA-7484-4190-AA0C-A41A6B1459CA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665B3-1C7C-F7E1-ECF3-8EBF83F9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0EF2C-F24B-C1C0-EB44-E4A2A54F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62D1-AC25-B662-555E-875D4CC79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779B9-A927-1A08-2B9A-2C0CA1284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52D46-0BE7-7F88-10DE-30C9DF5ED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00BED-B16A-40DA-B787-A1FF8FB835D8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9392F-C09F-9C6A-0A10-F8A9667D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93BD0-912E-9C65-B699-CDA7F17D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44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079E-4743-7371-B16F-D54A01C4C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60E23-9A0A-BF3C-E6F7-0ABE3BDC3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972FA-D31C-2B2B-49C3-932477621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80F55-C7BE-1D17-8F01-4A3762C6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6D8F5-F387-4889-A9D1-B961C1A674BF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E3374-A079-316E-95CD-31907EB3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9283D-8725-9EE4-01FE-827BCE345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73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2EA27-7B3C-D9FF-BBC0-B9E5A8D49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DE9C9-258D-D51A-7E2A-D662FE4A9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7F9BD-DF24-78ED-4001-63C39CE33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BE6684-1F84-D393-0642-C4E9A3DBC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549D0-2E81-650B-6F97-D0E4636CB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593653-50D9-2D3D-51E3-06A219F3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D778-18A8-47DF-8AED-E6E322EA7491}" type="datetime1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9EE3E5-F748-B4EB-B5D1-AAC2590A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50938F-B764-E2FB-F2C9-BDF0B19F9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78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2853-7960-662F-3CBD-598ECB3F7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65D810-DBC0-B4CE-6C39-2A3576926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6922-50EB-4494-A311-3C7D17BA2517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7637F3-6DFB-E486-4291-F199577E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E6E89-163D-C661-3034-1FE3507F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518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B1E56-D826-0C82-6EDD-CB449DE30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91FEF-0E26-4149-8FEC-468F7981A3A3}" type="datetime1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1BC852-CA39-27EB-8EEC-F1FB5CF15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516E2-D08C-7457-180F-F1DBAB49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7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3C4E-90A6-143F-AD9F-D4795111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E19B0-12EB-E86E-9E5C-1A591B2DA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C69FD-A209-F4C5-F83E-36E8C3626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10DC0-8A17-3849-EDBC-399428F43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73D7E-D025-477F-9E64-8674E20439BA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80B55-5BD1-D6D3-FAD7-8E7E7D6B0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288D6-70CC-7095-D640-CA572E73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99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995A5-DA6F-3DA7-FA83-670D79A17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2F99C-3AE9-A5E9-E295-441CCCFC9D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24508-96A8-9B75-06CA-E20B20335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667A6-35F5-1446-E664-468982CD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639DC-FE47-4134-951C-5C65598B1E14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1F2B3-86DC-3D25-195B-75E1AE90E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64795-8AA4-1407-D74F-16945020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672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AC6D-2134-4CDE-7824-51648F17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31F77-00FD-897B-813C-80B19A2D1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0614E-1C9B-8C4D-CCC3-59ACA438B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724D4-349A-45F2-926D-61D2C1113ABB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78AD2-0BDB-66AA-0E4B-39C0D96EC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A06B8-6422-A717-0A5E-25182830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72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7E1AB4-8655-07B5-47EC-A3AAD74E49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37797-CD07-C0F6-DCD3-9ABDE4BB5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2AC9-5E62-72A0-5EA8-15C38D3C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DF844-2278-4600-8532-81D872C290C4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87220-2E89-F8FF-6A6B-6C899EF7B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983D0-4563-4C58-A293-3D82CDF0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06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115B32-8C49-BBDC-75D1-009ACBA5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FDC31-1B5D-FD21-E62F-78C27EEBC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DE145-C406-B157-AD15-B5E23DCD2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2D422-57EE-4103-9919-9951FA76F512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50EC1-77B5-60A0-5AFB-B4757355C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60-C0B0-CC62-10FE-8E30D9C38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7F500-9BA7-41C5-946B-215411795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1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nological background">
            <a:extLst>
              <a:ext uri="{FF2B5EF4-FFF2-40B4-BE49-F238E27FC236}">
                <a16:creationId xmlns:a16="http://schemas.microsoft.com/office/drawing/2014/main" id="{A50C2E5D-000D-85B5-54D5-A26CEBE649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66" r="34802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96277F1-0AB1-A73B-773E-BAB03512CCA1}"/>
              </a:ext>
            </a:extLst>
          </p:cNvPr>
          <p:cNvGrpSpPr/>
          <p:nvPr/>
        </p:nvGrpSpPr>
        <p:grpSpPr>
          <a:xfrm>
            <a:off x="5297593" y="1505425"/>
            <a:ext cx="6402794" cy="2991385"/>
            <a:chOff x="5297593" y="1505425"/>
            <a:chExt cx="6402794" cy="299138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13FBBEA-FEAB-7F36-8314-3CE7A007D252}"/>
                </a:ext>
              </a:extLst>
            </p:cNvPr>
            <p:cNvGrpSpPr/>
            <p:nvPr/>
          </p:nvGrpSpPr>
          <p:grpSpPr>
            <a:xfrm>
              <a:off x="5297593" y="1505425"/>
              <a:ext cx="6402794" cy="2389337"/>
              <a:chOff x="5297593" y="1446433"/>
              <a:chExt cx="6402794" cy="2389337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AC5662-84B2-F910-0DC7-2CDDC34FA507}"/>
                  </a:ext>
                </a:extLst>
              </p:cNvPr>
              <p:cNvSpPr txBox="1"/>
              <p:nvPr/>
            </p:nvSpPr>
            <p:spPr>
              <a:xfrm>
                <a:off x="5297593" y="1446433"/>
                <a:ext cx="6251110" cy="1002300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sz="5400" b="1" dirty="0">
                    <a:latin typeface="+mj-lt"/>
                    <a:ea typeface="+mj-ea"/>
                    <a:cs typeface="+mj-cs"/>
                  </a:rPr>
                  <a:t>OCEANSENSE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4152CB-9201-51D9-41D4-68AACEDF285B}"/>
                  </a:ext>
                </a:extLst>
              </p:cNvPr>
              <p:cNvSpPr txBox="1"/>
              <p:nvPr/>
            </p:nvSpPr>
            <p:spPr>
              <a:xfrm>
                <a:off x="5297593" y="2905529"/>
                <a:ext cx="6402794" cy="93024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sz="2800" dirty="0">
                    <a:solidFill>
                      <a:srgbClr val="002060"/>
                    </a:solidFill>
                  </a:rPr>
                  <a:t>An IoT-Based System for Real-Time Detection and Tracking of Marine Debris</a:t>
                </a: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FD1E722-D1D8-0766-A200-13F324EA1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06653" y="2380408"/>
                <a:ext cx="4456007" cy="384738"/>
              </a:xfrm>
              <a:prstGeom prst="rect">
                <a:avLst/>
              </a:prstGeom>
            </p:spPr>
          </p:pic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5855B50-14FD-1ECF-8CF5-A06E24C3C438}"/>
                </a:ext>
              </a:extLst>
            </p:cNvPr>
            <p:cNvSpPr txBox="1"/>
            <p:nvPr/>
          </p:nvSpPr>
          <p:spPr>
            <a:xfrm>
              <a:off x="5306653" y="4035145"/>
              <a:ext cx="3124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2060"/>
                  </a:solidFill>
                </a:rPr>
                <a:t>Group ID : 25-26J-002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04DDDC02-0E53-932D-2B1E-B654772F7C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4D6EF89-48AF-BDEC-2EF4-BBC59505F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88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A646D-E6C4-52FA-E739-6E8ED4FA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nological background">
            <a:extLst>
              <a:ext uri="{FF2B5EF4-FFF2-40B4-BE49-F238E27FC236}">
                <a16:creationId xmlns:a16="http://schemas.microsoft.com/office/drawing/2014/main" id="{222B6655-6E07-757A-24C4-516992E9F2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6" r="34802" b="-1"/>
          <a:stretch>
            <a:fillRect/>
          </a:stretch>
        </p:blipFill>
        <p:spPr>
          <a:xfrm>
            <a:off x="-2192596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B957B3-F4B4-8FB7-CFB9-51AAEE27686F}"/>
              </a:ext>
            </a:extLst>
          </p:cNvPr>
          <p:cNvSpPr txBox="1"/>
          <p:nvPr/>
        </p:nvSpPr>
        <p:spPr>
          <a:xfrm>
            <a:off x="2677753" y="1074697"/>
            <a:ext cx="93012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Marine debris is a major environmental issue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Plastic waste harms marine life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Difficult to monitor large ocean areas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Limited real-time monitoring systems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23A54C-33A2-B031-C994-1F83991E8649}"/>
              </a:ext>
            </a:extLst>
          </p:cNvPr>
          <p:cNvSpPr txBox="1"/>
          <p:nvPr/>
        </p:nvSpPr>
        <p:spPr>
          <a:xfrm>
            <a:off x="2534913" y="428366"/>
            <a:ext cx="8485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Background / Problem Context</a:t>
            </a:r>
            <a:endParaRPr lang="en-US" sz="3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53FD02-0F80-1964-3540-E9132B9645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50FA9-F590-1682-A490-F3E232F9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8E5E8A-5947-7A89-1042-69C4BF19ABC4}"/>
              </a:ext>
            </a:extLst>
          </p:cNvPr>
          <p:cNvSpPr txBox="1"/>
          <p:nvPr/>
        </p:nvSpPr>
        <p:spPr>
          <a:xfrm>
            <a:off x="2534913" y="2955028"/>
            <a:ext cx="8485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Research Problem</a:t>
            </a:r>
            <a:endParaRPr lang="en-US" sz="3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B7130E-8149-0281-38F1-A093F04567B9}"/>
              </a:ext>
            </a:extLst>
          </p:cNvPr>
          <p:cNvSpPr txBox="1"/>
          <p:nvPr/>
        </p:nvSpPr>
        <p:spPr>
          <a:xfrm>
            <a:off x="2677753" y="3586610"/>
            <a:ext cx="93012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Manual observation is expensive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Satellite monitoring is limited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 continuous real-time tracking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Devices may lose communication in open sea</a:t>
            </a:r>
            <a:endParaRPr lang="en-CA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2466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9D2D-A083-1EDC-3539-223CE2230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nological background">
            <a:extLst>
              <a:ext uri="{FF2B5EF4-FFF2-40B4-BE49-F238E27FC236}">
                <a16:creationId xmlns:a16="http://schemas.microsoft.com/office/drawing/2014/main" id="{F56523E3-95C7-F95C-2703-9EDC9E466A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6" r="34802" b="-1"/>
          <a:stretch>
            <a:fillRect/>
          </a:stretch>
        </p:blipFill>
        <p:spPr>
          <a:xfrm>
            <a:off x="-2192596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E22376-582E-EBB8-CDCB-4D7200894C02}"/>
              </a:ext>
            </a:extLst>
          </p:cNvPr>
          <p:cNvSpPr txBox="1"/>
          <p:nvPr/>
        </p:nvSpPr>
        <p:spPr>
          <a:xfrm>
            <a:off x="2854509" y="1577991"/>
            <a:ext cx="93012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OceanSense is an </a:t>
            </a:r>
            <a:r>
              <a:rPr lang="en-CA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autonomous marine monitoring system</a:t>
            </a:r>
            <a:r>
              <a:rPr lang="en-CA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that: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Detects marine debris using image processing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Operates using </a:t>
            </a:r>
            <a:r>
              <a:rPr lang="en-CA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energy-efficient technology</a:t>
            </a:r>
            <a:endParaRPr lang="en-CA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Works in </a:t>
            </a:r>
            <a:r>
              <a:rPr lang="en-CA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harsh ocean environments</a:t>
            </a:r>
            <a:endParaRPr lang="en-CA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Uses multiple floating nodes for large-area monitoring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Supports </a:t>
            </a:r>
            <a:r>
              <a:rPr lang="en-CA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self-healing communication</a:t>
            </a:r>
            <a:endParaRPr lang="en-CA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C5C448-573D-87FA-F14D-2E658E9C0EF7}"/>
              </a:ext>
            </a:extLst>
          </p:cNvPr>
          <p:cNvSpPr txBox="1"/>
          <p:nvPr/>
        </p:nvSpPr>
        <p:spPr>
          <a:xfrm>
            <a:off x="2286338" y="562577"/>
            <a:ext cx="8485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/>
              <a:t>Proposed Solution: OceanSense</a:t>
            </a:r>
            <a:endParaRPr lang="en-US" sz="3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93F0EA-A930-5493-919F-060F38E6F4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AF63B-9DD3-B292-D419-4F9DD7BC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73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F7356-C64E-55FC-05F5-2674F63DD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nological background">
            <a:extLst>
              <a:ext uri="{FF2B5EF4-FFF2-40B4-BE49-F238E27FC236}">
                <a16:creationId xmlns:a16="http://schemas.microsoft.com/office/drawing/2014/main" id="{E9124A2B-AC6D-5A91-E377-AA459D65D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6" r="34802" b="-1"/>
          <a:stretch>
            <a:fillRect/>
          </a:stretch>
        </p:blipFill>
        <p:spPr>
          <a:xfrm>
            <a:off x="-2192596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E16A11-6050-14AD-B215-BA20DCE5FE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63917E-60BD-C1BF-1DF1-188DA37D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4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30B506-E2DA-F40A-005F-4D185F4E0C5D}"/>
              </a:ext>
            </a:extLst>
          </p:cNvPr>
          <p:cNvSpPr txBox="1"/>
          <p:nvPr/>
        </p:nvSpPr>
        <p:spPr>
          <a:xfrm>
            <a:off x="2576051" y="401626"/>
            <a:ext cx="8485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/>
              <a:t>System Architecture</a:t>
            </a:r>
            <a:endParaRPr lang="en-US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D7CAA3-C2BC-90B4-261B-347379A38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547" y="1047957"/>
            <a:ext cx="6796678" cy="549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892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FC948-CAA5-9CDF-ACBC-4402C8A35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nological background">
            <a:extLst>
              <a:ext uri="{FF2B5EF4-FFF2-40B4-BE49-F238E27FC236}">
                <a16:creationId xmlns:a16="http://schemas.microsoft.com/office/drawing/2014/main" id="{47057359-44C0-6547-C9CF-E73758CACE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6" r="34802" b="-1"/>
          <a:stretch>
            <a:fillRect/>
          </a:stretch>
        </p:blipFill>
        <p:spPr>
          <a:xfrm>
            <a:off x="-2192596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E0194E-659D-B57A-F136-13A64D75CF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AF505E3-A3BD-4B61-4D8C-3B744889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6FF9B-87E8-AD90-2EAC-F9634E0DA405}"/>
              </a:ext>
            </a:extLst>
          </p:cNvPr>
          <p:cNvSpPr txBox="1"/>
          <p:nvPr/>
        </p:nvSpPr>
        <p:spPr>
          <a:xfrm>
            <a:off x="2576051" y="401626"/>
            <a:ext cx="8485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/>
              <a:t>Target Users</a:t>
            </a:r>
            <a:endParaRPr lang="en-US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C921F-4586-932F-93F2-078ECB9E92AB}"/>
              </a:ext>
            </a:extLst>
          </p:cNvPr>
          <p:cNvSpPr txBox="1"/>
          <p:nvPr/>
        </p:nvSpPr>
        <p:spPr>
          <a:xfrm>
            <a:off x="2464748" y="1139792"/>
            <a:ext cx="93012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Environmental monitoring organizations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Marine research institutes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Coastal protection agencies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Ocean cleanup organizations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Environmental NGOs</a:t>
            </a:r>
          </a:p>
        </p:txBody>
      </p:sp>
    </p:spTree>
    <p:extLst>
      <p:ext uri="{BB962C8B-B14F-4D97-AF65-F5344CB8AC3E}">
        <p14:creationId xmlns:p14="http://schemas.microsoft.com/office/powerpoint/2010/main" val="20441937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B02EA-70A1-7D3B-F64A-A26A06BE5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nological background">
            <a:extLst>
              <a:ext uri="{FF2B5EF4-FFF2-40B4-BE49-F238E27FC236}">
                <a16:creationId xmlns:a16="http://schemas.microsoft.com/office/drawing/2014/main" id="{4716842E-50AE-80E6-1077-08B4DC058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6" r="34802" b="-1"/>
          <a:stretch>
            <a:fillRect/>
          </a:stretch>
        </p:blipFill>
        <p:spPr>
          <a:xfrm>
            <a:off x="-2890688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37BB6D0-467D-0EA9-29D9-928DE5F3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53" b="5301"/>
          <a:stretch>
            <a:fillRect/>
          </a:stretch>
        </p:blipFill>
        <p:spPr>
          <a:xfrm>
            <a:off x="-1" y="6264515"/>
            <a:ext cx="12192000" cy="5997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A3EE47-320D-384D-EB4C-788FFD933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F500-9BA7-41C5-946B-2154117956DC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0B5E0-FD70-957D-130F-5C3AB42351E4}"/>
              </a:ext>
            </a:extLst>
          </p:cNvPr>
          <p:cNvSpPr txBox="1"/>
          <p:nvPr/>
        </p:nvSpPr>
        <p:spPr>
          <a:xfrm>
            <a:off x="3731602" y="180241"/>
            <a:ext cx="5460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Our Research Team</a:t>
            </a:r>
            <a:endParaRPr lang="en-US" sz="36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909B7EA-F8B6-E2F3-D1B1-D7334C51EF44}"/>
              </a:ext>
            </a:extLst>
          </p:cNvPr>
          <p:cNvGrpSpPr/>
          <p:nvPr/>
        </p:nvGrpSpPr>
        <p:grpSpPr>
          <a:xfrm>
            <a:off x="1395706" y="1048305"/>
            <a:ext cx="10506722" cy="5073402"/>
            <a:chOff x="1285174" y="1048305"/>
            <a:chExt cx="10506722" cy="50734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19BEB07-E2CE-DB99-999D-8E39A078F7B0}"/>
                </a:ext>
              </a:extLst>
            </p:cNvPr>
            <p:cNvGrpSpPr/>
            <p:nvPr/>
          </p:nvGrpSpPr>
          <p:grpSpPr>
            <a:xfrm>
              <a:off x="6351096" y="1048306"/>
              <a:ext cx="2834527" cy="2264251"/>
              <a:chOff x="5752311" y="1294107"/>
              <a:chExt cx="2834527" cy="2264251"/>
            </a:xfrm>
          </p:grpSpPr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C8252AF6-92B4-4855-9647-FABD56F53F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48" t="-206" r="13521" b="12840"/>
              <a:stretch>
                <a:fillRect/>
              </a:stretch>
            </p:blipFill>
            <p:spPr bwMode="auto">
              <a:xfrm>
                <a:off x="6528624" y="1294107"/>
                <a:ext cx="1281903" cy="1608424"/>
              </a:xfrm>
              <a:prstGeom prst="ellipse">
                <a:avLst/>
              </a:prstGeom>
              <a:noFill/>
              <a:ln w="28575">
                <a:solidFill>
                  <a:srgbClr val="0070C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FB8ECF-F015-1620-7126-783BD4C28C9A}"/>
                  </a:ext>
                </a:extLst>
              </p:cNvPr>
              <p:cNvSpPr txBox="1"/>
              <p:nvPr/>
            </p:nvSpPr>
            <p:spPr>
              <a:xfrm>
                <a:off x="5752311" y="2912027"/>
                <a:ext cx="28345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/>
                <a:r>
                  <a:rPr lang="en-US" b="1" dirty="0"/>
                  <a:t>Ms. Narmada Gamage</a:t>
                </a:r>
              </a:p>
              <a:p>
                <a:pPr algn="ctr" fontAlgn="base"/>
                <a:r>
                  <a:rPr lang="en-US" dirty="0"/>
                  <a:t>Co-Supervisor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7934C51-51AB-0E46-0A54-C9FD29900485}"/>
                </a:ext>
              </a:extLst>
            </p:cNvPr>
            <p:cNvGrpSpPr/>
            <p:nvPr/>
          </p:nvGrpSpPr>
          <p:grpSpPr>
            <a:xfrm>
              <a:off x="3325972" y="1048305"/>
              <a:ext cx="2834527" cy="2264252"/>
              <a:chOff x="3538699" y="1294107"/>
              <a:chExt cx="2834527" cy="2264252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0E6035EC-6521-77E5-9EE4-6056D03144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340" t="-208" r="25543" b="46502"/>
              <a:stretch>
                <a:fillRect/>
              </a:stretch>
            </p:blipFill>
            <p:spPr bwMode="auto">
              <a:xfrm>
                <a:off x="4315012" y="1294107"/>
                <a:ext cx="1281903" cy="1608424"/>
              </a:xfrm>
              <a:prstGeom prst="ellipse">
                <a:avLst/>
              </a:prstGeom>
              <a:noFill/>
              <a:ln w="28575">
                <a:solidFill>
                  <a:srgbClr val="0070C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41DDC0-D05D-C038-BA78-210F1B08FC62}"/>
                  </a:ext>
                </a:extLst>
              </p:cNvPr>
              <p:cNvSpPr txBox="1"/>
              <p:nvPr/>
            </p:nvSpPr>
            <p:spPr>
              <a:xfrm>
                <a:off x="3538699" y="2912028"/>
                <a:ext cx="28345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/>
                <a:r>
                  <a:rPr lang="en-US" b="1" dirty="0"/>
                  <a:t>Ms. Dinithi Pandithage</a:t>
                </a:r>
              </a:p>
              <a:p>
                <a:pPr algn="ctr" fontAlgn="base"/>
                <a:r>
                  <a:rPr lang="en-US" dirty="0"/>
                  <a:t>Supervisor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8D15430-F691-566E-1275-B201DBEA7849}"/>
                </a:ext>
              </a:extLst>
            </p:cNvPr>
            <p:cNvGrpSpPr/>
            <p:nvPr/>
          </p:nvGrpSpPr>
          <p:grpSpPr>
            <a:xfrm>
              <a:off x="1285174" y="3621417"/>
              <a:ext cx="2834527" cy="2500290"/>
              <a:chOff x="2273831" y="3608832"/>
              <a:chExt cx="2834527" cy="2500290"/>
            </a:xfrm>
          </p:grpSpPr>
          <p:grpSp>
            <p:nvGrpSpPr>
              <p:cNvPr id="8" name="Group 10">
                <a:extLst>
                  <a:ext uri="{FF2B5EF4-FFF2-40B4-BE49-F238E27FC236}">
                    <a16:creationId xmlns:a16="http://schemas.microsoft.com/office/drawing/2014/main" id="{774980DC-B8DA-69BC-036C-AE57F2EF091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970897" y="3608832"/>
                <a:ext cx="1440396" cy="1804247"/>
                <a:chOff x="0" y="0"/>
                <a:chExt cx="1673574" cy="2096327"/>
              </a:xfrm>
            </p:grpSpPr>
            <p:sp>
              <p:nvSpPr>
                <p:cNvPr id="9" name="Freeform 11">
                  <a:extLst>
                    <a:ext uri="{FF2B5EF4-FFF2-40B4-BE49-F238E27FC236}">
                      <a16:creationId xmlns:a16="http://schemas.microsoft.com/office/drawing/2014/main" id="{FB95F6A2-C33B-0783-289A-13DFA8F0BCD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73574" cy="2096327"/>
                </a:xfrm>
                <a:prstGeom prst="ellipse">
                  <a:avLst/>
                </a:prstGeom>
                <a:blipFill>
                  <a:blip r:embed="rId6"/>
                  <a:stretch>
                    <a:fillRect l="-4879" r="-4879"/>
                  </a:stretch>
                </a:blipFill>
                <a:ln w="28575" cap="sq">
                  <a:solidFill>
                    <a:srgbClr val="0070C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B92EC0-7C4A-D877-025B-B51EAFD126BD}"/>
                  </a:ext>
                </a:extLst>
              </p:cNvPr>
              <p:cNvSpPr txBox="1"/>
              <p:nvPr/>
            </p:nvSpPr>
            <p:spPr>
              <a:xfrm>
                <a:off x="2273831" y="5462791"/>
                <a:ext cx="28345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/>
                <a:r>
                  <a:rPr lang="en-US" b="1" dirty="0"/>
                  <a:t>Jayasak D.L.C.</a:t>
                </a:r>
              </a:p>
              <a:p>
                <a:pPr algn="ctr" fontAlgn="base"/>
                <a:r>
                  <a:rPr lang="en-US" dirty="0"/>
                  <a:t>Leader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61FE772-0D54-1479-E340-84F78AAC477B}"/>
                </a:ext>
              </a:extLst>
            </p:cNvPr>
            <p:cNvGrpSpPr/>
            <p:nvPr/>
          </p:nvGrpSpPr>
          <p:grpSpPr>
            <a:xfrm>
              <a:off x="3772986" y="3626490"/>
              <a:ext cx="2834527" cy="2495217"/>
              <a:chOff x="4179651" y="3611711"/>
              <a:chExt cx="2834527" cy="2495217"/>
            </a:xfrm>
          </p:grpSpPr>
          <p:grpSp>
            <p:nvGrpSpPr>
              <p:cNvPr id="10" name="Group 32">
                <a:extLst>
                  <a:ext uri="{FF2B5EF4-FFF2-40B4-BE49-F238E27FC236}">
                    <a16:creationId xmlns:a16="http://schemas.microsoft.com/office/drawing/2014/main" id="{AEE2971B-2FD4-AF4E-AFD7-9F3FBBAC4B8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877866" y="3611711"/>
                <a:ext cx="1438098" cy="1801368"/>
                <a:chOff x="0" y="0"/>
                <a:chExt cx="1673574" cy="2096327"/>
              </a:xfrm>
            </p:grpSpPr>
            <p:sp>
              <p:nvSpPr>
                <p:cNvPr id="11" name="Freeform 33">
                  <a:extLst>
                    <a:ext uri="{FF2B5EF4-FFF2-40B4-BE49-F238E27FC236}">
                      <a16:creationId xmlns:a16="http://schemas.microsoft.com/office/drawing/2014/main" id="{71916A36-6EA8-E8EB-BA57-0A216F26F4A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73574" cy="2096327"/>
                </a:xfrm>
                <a:prstGeom prst="ellipse">
                  <a:avLst/>
                </a:prstGeom>
                <a:blipFill>
                  <a:blip r:embed="rId7"/>
                  <a:stretch>
                    <a:fillRect l="-1411" r="-1411"/>
                  </a:stretch>
                </a:blipFill>
                <a:ln w="28575" cap="sq">
                  <a:solidFill>
                    <a:srgbClr val="0070C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B212D1-7C17-6142-3591-D98B3B0CC3CF}"/>
                  </a:ext>
                </a:extLst>
              </p:cNvPr>
              <p:cNvSpPr txBox="1"/>
              <p:nvPr/>
            </p:nvSpPr>
            <p:spPr>
              <a:xfrm>
                <a:off x="4179651" y="5460597"/>
                <a:ext cx="28345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/>
                <a:r>
                  <a:rPr lang="en-US" b="1" dirty="0"/>
                  <a:t>Rathnayake G.R.M.S.D.</a:t>
                </a:r>
              </a:p>
              <a:p>
                <a:pPr algn="ctr" fontAlgn="base"/>
                <a:r>
                  <a:rPr lang="en-US" dirty="0"/>
                  <a:t>Member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71E8D05-8FF6-5423-FFCB-A9396B23E62C}"/>
                </a:ext>
              </a:extLst>
            </p:cNvPr>
            <p:cNvGrpSpPr/>
            <p:nvPr/>
          </p:nvGrpSpPr>
          <p:grpSpPr>
            <a:xfrm>
              <a:off x="6409656" y="3621417"/>
              <a:ext cx="2834527" cy="2493023"/>
              <a:chOff x="6434054" y="3611711"/>
              <a:chExt cx="2834527" cy="2493023"/>
            </a:xfrm>
          </p:grpSpPr>
          <p:grpSp>
            <p:nvGrpSpPr>
              <p:cNvPr id="12" name="Group 16">
                <a:extLst>
                  <a:ext uri="{FF2B5EF4-FFF2-40B4-BE49-F238E27FC236}">
                    <a16:creationId xmlns:a16="http://schemas.microsoft.com/office/drawing/2014/main" id="{4F358722-0D09-0552-C2B2-6145128E1D8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132269" y="3611711"/>
                <a:ext cx="1438098" cy="1801368"/>
                <a:chOff x="0" y="0"/>
                <a:chExt cx="1673574" cy="2096327"/>
              </a:xfrm>
            </p:grpSpPr>
            <p:sp>
              <p:nvSpPr>
                <p:cNvPr id="13" name="Freeform 17">
                  <a:extLst>
                    <a:ext uri="{FF2B5EF4-FFF2-40B4-BE49-F238E27FC236}">
                      <a16:creationId xmlns:a16="http://schemas.microsoft.com/office/drawing/2014/main" id="{FC9ACB4F-A19A-76C5-7BA4-3CA3A6103ED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73574" cy="2096327"/>
                </a:xfrm>
                <a:prstGeom prst="ellipse">
                  <a:avLst/>
                </a:prstGeom>
                <a:blipFill>
                  <a:blip r:embed="rId8"/>
                  <a:stretch>
                    <a:fillRect l="-40762" r="-43722" b="-47818"/>
                  </a:stretch>
                </a:blipFill>
                <a:ln w="28575" cap="sq">
                  <a:solidFill>
                    <a:srgbClr val="0070C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C00E063-14A6-8DBC-AE0C-DEBEBF9260F9}"/>
                  </a:ext>
                </a:extLst>
              </p:cNvPr>
              <p:cNvSpPr txBox="1"/>
              <p:nvPr/>
            </p:nvSpPr>
            <p:spPr>
              <a:xfrm>
                <a:off x="6434054" y="5458403"/>
                <a:ext cx="28345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/>
                <a:r>
                  <a:rPr lang="en-US" b="1" dirty="0"/>
                  <a:t>Abeysinghe P.T.G.S.R.</a:t>
                </a:r>
              </a:p>
              <a:p>
                <a:pPr algn="ctr" fontAlgn="base"/>
                <a:r>
                  <a:rPr lang="en-US" dirty="0"/>
                  <a:t>Member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1149468-EE62-6677-DE80-5375DC275BC0}"/>
                </a:ext>
              </a:extLst>
            </p:cNvPr>
            <p:cNvGrpSpPr/>
            <p:nvPr/>
          </p:nvGrpSpPr>
          <p:grpSpPr>
            <a:xfrm>
              <a:off x="8957369" y="3621417"/>
              <a:ext cx="2834527" cy="2491719"/>
              <a:chOff x="8638422" y="3610821"/>
              <a:chExt cx="2834527" cy="2491719"/>
            </a:xfrm>
          </p:grpSpPr>
          <p:grpSp>
            <p:nvGrpSpPr>
              <p:cNvPr id="14" name="Group 16">
                <a:extLst>
                  <a:ext uri="{FF2B5EF4-FFF2-40B4-BE49-F238E27FC236}">
                    <a16:creationId xmlns:a16="http://schemas.microsoft.com/office/drawing/2014/main" id="{8F2B60D3-DB1D-C387-1841-24D2D0410AE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336637" y="3610821"/>
                <a:ext cx="1438098" cy="1801368"/>
                <a:chOff x="0" y="0"/>
                <a:chExt cx="1673574" cy="2096327"/>
              </a:xfrm>
            </p:grpSpPr>
            <p:sp>
              <p:nvSpPr>
                <p:cNvPr id="15" name="Freeform 17">
                  <a:extLst>
                    <a:ext uri="{FF2B5EF4-FFF2-40B4-BE49-F238E27FC236}">
                      <a16:creationId xmlns:a16="http://schemas.microsoft.com/office/drawing/2014/main" id="{B85311E2-EC0C-49EE-8A9C-415F833E020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73574" cy="2096327"/>
                </a:xfrm>
                <a:prstGeom prst="ellipse">
                  <a:avLst/>
                </a:prstGeom>
                <a:blipFill>
                  <a:blip r:embed="rId9"/>
                  <a:stretch>
                    <a:fillRect l="-11232" r="-14027"/>
                  </a:stretch>
                </a:blipFill>
                <a:ln w="28575" cap="sq">
                  <a:solidFill>
                    <a:srgbClr val="0070C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AC6DFF-DA9D-222A-7859-058E96ED5838}"/>
                  </a:ext>
                </a:extLst>
              </p:cNvPr>
              <p:cNvSpPr txBox="1"/>
              <p:nvPr/>
            </p:nvSpPr>
            <p:spPr>
              <a:xfrm>
                <a:off x="8638422" y="5456209"/>
                <a:ext cx="28345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/>
                <a:r>
                  <a:rPr lang="en-US" b="1" dirty="0"/>
                  <a:t>Dissanayake D.M.T.N.</a:t>
                </a:r>
              </a:p>
              <a:p>
                <a:pPr algn="ctr" fontAlgn="base"/>
                <a:r>
                  <a:rPr lang="en-US" dirty="0"/>
                  <a:t>Member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200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476C4981FE2047819081DBF807662E" ma:contentTypeVersion="15" ma:contentTypeDescription="Create a new document." ma:contentTypeScope="" ma:versionID="398e69e3dadf0cb413abcdf3606752fe">
  <xsd:schema xmlns:xsd="http://www.w3.org/2001/XMLSchema" xmlns:xs="http://www.w3.org/2001/XMLSchema" xmlns:p="http://schemas.microsoft.com/office/2006/metadata/properties" xmlns:ns3="fdf483cb-5937-4af3-915e-55fd2d7d3a90" xmlns:ns4="42d1e402-c42d-419a-bd83-d8d365e28f11" targetNamespace="http://schemas.microsoft.com/office/2006/metadata/properties" ma:root="true" ma:fieldsID="291e3a7bdd65dca6c72c1ffce0e1d03e" ns3:_="" ns4:_="">
    <xsd:import namespace="fdf483cb-5937-4af3-915e-55fd2d7d3a90"/>
    <xsd:import namespace="42d1e402-c42d-419a-bd83-d8d365e28f1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SearchProperties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483cb-5937-4af3-915e-55fd2d7d3a9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d1e402-c42d-419a-bd83-d8d365e28f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d1e402-c42d-419a-bd83-d8d365e28f1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CAB024-6024-4E25-A441-03F441033B2D}">
  <ds:schemaRefs>
    <ds:schemaRef ds:uri="42d1e402-c42d-419a-bd83-d8d365e28f11"/>
    <ds:schemaRef ds:uri="fdf483cb-5937-4af3-915e-55fd2d7d3a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22E0D73-852A-4206-87E8-073CF7E0571E}">
  <ds:schemaRefs>
    <ds:schemaRef ds:uri="http://purl.org/dc/dcmitype/"/>
    <ds:schemaRef ds:uri="fdf483cb-5937-4af3-915e-55fd2d7d3a90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42d1e402-c42d-419a-bd83-d8d365e28f11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15ED3A4-C6DE-41A6-AFEF-BA76565DCD0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181</Words>
  <Application>Microsoft Office PowerPoint</Application>
  <PresentationFormat>Widescreen</PresentationFormat>
  <Paragraphs>47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RATHNAYAKA G R M S D it22228130</dc:creator>
  <cp:lastModifiedBy>JAYASAK D L C it22908360</cp:lastModifiedBy>
  <cp:revision>3</cp:revision>
  <dcterms:created xsi:type="dcterms:W3CDTF">2026-01-05T12:18:04Z</dcterms:created>
  <dcterms:modified xsi:type="dcterms:W3CDTF">2026-03-10T02:05:29Z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0x01010018476C4981FE2047819081DBF807662E</vt:lpwstr>
  </property>
</Properties>
</file>