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70" r:id="rId5"/>
    <p:sldId id="279" r:id="rId6"/>
    <p:sldId id="284" r:id="rId7"/>
    <p:sldId id="285" r:id="rId8"/>
    <p:sldId id="281" r:id="rId9"/>
    <p:sldId id="257" r:id="rId10"/>
    <p:sldId id="258" r:id="rId11"/>
    <p:sldId id="259" r:id="rId12"/>
    <p:sldId id="290" r:id="rId13"/>
    <p:sldId id="287" r:id="rId14"/>
    <p:sldId id="286" r:id="rId15"/>
    <p:sldId id="28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069DC3-BCCB-4DCA-AA28-ED3905BA2559}">
          <p14:sldIdLst>
            <p14:sldId id="270"/>
            <p14:sldId id="279"/>
            <p14:sldId id="284"/>
            <p14:sldId id="285"/>
            <p14:sldId id="281"/>
            <p14:sldId id="257"/>
            <p14:sldId id="258"/>
            <p14:sldId id="259"/>
            <p14:sldId id="290"/>
            <p14:sldId id="287"/>
            <p14:sldId id="286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A00E7-31A4-4346-B467-ECF77212844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2689E-876B-4467-8235-9740B8EA1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8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689E-876B-4467-8235-9740B8EA19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90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04E1-FF28-FEE3-FE1E-8149212C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0BE8B-283C-370E-94EA-A8EDC5FD8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B3F9E-E5BB-0831-775A-254CAE8CE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BAD8F-3291-1AB2-FCB0-93F29ECBC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689E-876B-4467-8235-9740B8EA19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03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95850-1823-72F0-1A34-F413004E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8630C-C48D-B987-A267-2EFD7178C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A7AD2-5360-8E4B-9E36-6442F4E5B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C793D-A39C-D451-EA1E-936BC6A46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689E-876B-4467-8235-9740B8EA19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79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7EA3-659C-6D29-EBC7-F2AF1977F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95ECC-E801-28F8-6EE5-C3B34E0BE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1FE75-CCA3-4C57-84B7-B47E8825B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28DEB-C9BE-4191-9A52-DCF2E86A971A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CB3F8-7695-B512-1A9D-5E964BA3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58B9E-FA7D-8EB6-AC53-540A6B49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69B7-2BF6-DB91-9EC5-AD71DF8C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F7312-FF7D-CE55-48EB-AF32A5FDD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E7FC7-6030-93C0-5458-6D46215D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DBCA-7484-4190-AA0C-A41A6B1459CA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665B3-1C7C-F7E1-ECF3-8EBF83F9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0EF2C-F24B-C1C0-EB44-E4A2A54F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62D1-AC25-B662-555E-875D4CC7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779B9-A927-1A08-2B9A-2C0CA1284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52D46-0BE7-7F88-10DE-30C9DF5ED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00BED-B16A-40DA-B787-A1FF8FB835D8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9392F-C09F-9C6A-0A10-F8A9667D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3BD0-912E-9C65-B699-CDA7F17D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4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079E-4743-7371-B16F-D54A01C4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60E23-9A0A-BF3C-E6F7-0ABE3BDC3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972FA-D31C-2B2B-49C3-932477621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80F55-C7BE-1D17-8F01-4A3762C6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6D8F5-F387-4889-A9D1-B961C1A674BF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E3374-A079-316E-95CD-31907EB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9283D-8725-9EE4-01FE-827BCE34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7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EA27-7B3C-D9FF-BBC0-B9E5A8D4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DE9C9-258D-D51A-7E2A-D662FE4A9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7F9BD-DF24-78ED-4001-63C39CE33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E6684-1F84-D393-0642-C4E9A3DBC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549D0-2E81-650B-6F97-D0E4636CB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93653-50D9-2D3D-51E3-06A219F3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D778-18A8-47DF-8AED-E6E322EA7491}" type="datetime1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9EE3E5-F748-B4EB-B5D1-AAC2590A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0938F-B764-E2FB-F2C9-BDF0B19F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8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2853-7960-662F-3CBD-598ECB3F7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5D810-DBC0-B4CE-6C39-2A357692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6922-50EB-4494-A311-3C7D17BA2517}" type="datetime1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637F3-6DFB-E486-4291-F199577E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E6E89-163D-C661-3034-1FE3507F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1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B1E56-D826-0C82-6EDD-CB449DE3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91FEF-0E26-4149-8FEC-468F7981A3A3}" type="datetime1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BC852-CA39-27EB-8EEC-F1FB5CF15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516E2-D08C-7457-180F-F1DBAB49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7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3C4E-90A6-143F-AD9F-D4795111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E19B0-12EB-E86E-9E5C-1A591B2DA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C69FD-A209-F4C5-F83E-36E8C3626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10DC0-8A17-3849-EDBC-399428F43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73D7E-D025-477F-9E64-8674E20439BA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80B55-5BD1-D6D3-FAD7-8E7E7D6B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288D6-70CC-7095-D640-CA572E73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9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95A5-DA6F-3DA7-FA83-670D79A17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2F99C-3AE9-A5E9-E295-441CCCFC9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24508-96A8-9B75-06CA-E20B20335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667A6-35F5-1446-E664-468982CD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639DC-FE47-4134-951C-5C65598B1E14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1F2B3-86DC-3D25-195B-75E1AE90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64795-8AA4-1407-D74F-16945020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72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AC6D-2134-4CDE-7824-51648F17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31F77-00FD-897B-813C-80B19A2D1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0614E-1C9B-8C4D-CCC3-59ACA438B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24D4-349A-45F2-926D-61D2C1113ABB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8AD2-0BDB-66AA-0E4B-39C0D96EC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A06B8-6422-A717-0A5E-25182830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72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E1AB4-8655-07B5-47EC-A3AAD74E4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37797-CD07-C0F6-DCD3-9ABDE4BB5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2AC9-5E62-72A0-5EA8-15C38D3C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DF844-2278-4600-8532-81D872C290C4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87220-2E89-F8FF-6A6B-6C899EF7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983D0-4563-4C58-A293-3D82CDF0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06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115B32-8C49-BBDC-75D1-009ACBA5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FDC31-1B5D-FD21-E62F-78C27EEBC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DE145-C406-B157-AD15-B5E23DCD2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2D422-57EE-4103-9919-9951FA76F512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50EC1-77B5-60A0-5AFB-B4757355C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60-C0B0-CC62-10FE-8E30D9C38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1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A50C2E5D-000D-85B5-54D5-A26CEBE6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66" r="34802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96277F1-0AB1-A73B-773E-BAB03512CCA1}"/>
              </a:ext>
            </a:extLst>
          </p:cNvPr>
          <p:cNvGrpSpPr/>
          <p:nvPr/>
        </p:nvGrpSpPr>
        <p:grpSpPr>
          <a:xfrm>
            <a:off x="5148641" y="1505425"/>
            <a:ext cx="6402794" cy="2991385"/>
            <a:chOff x="5148641" y="1505425"/>
            <a:chExt cx="6402794" cy="299138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3FBBEA-FEAB-7F36-8314-3CE7A007D252}"/>
                </a:ext>
              </a:extLst>
            </p:cNvPr>
            <p:cNvGrpSpPr/>
            <p:nvPr/>
          </p:nvGrpSpPr>
          <p:grpSpPr>
            <a:xfrm>
              <a:off x="5148641" y="1505425"/>
              <a:ext cx="6402794" cy="2231130"/>
              <a:chOff x="5148641" y="1446433"/>
              <a:chExt cx="6402794" cy="223113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AC5662-84B2-F910-0DC7-2CDDC34FA507}"/>
                  </a:ext>
                </a:extLst>
              </p:cNvPr>
              <p:cNvSpPr txBox="1"/>
              <p:nvPr/>
            </p:nvSpPr>
            <p:spPr>
              <a:xfrm>
                <a:off x="5297593" y="1446433"/>
                <a:ext cx="6251110" cy="100230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sz="5400" b="1" dirty="0">
                    <a:latin typeface="+mj-lt"/>
                    <a:ea typeface="+mj-ea"/>
                    <a:cs typeface="+mj-cs"/>
                  </a:rPr>
                  <a:t>OCEANSENSE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4152CB-9201-51D9-41D4-68AACEDF285B}"/>
                  </a:ext>
                </a:extLst>
              </p:cNvPr>
              <p:cNvSpPr txBox="1"/>
              <p:nvPr/>
            </p:nvSpPr>
            <p:spPr>
              <a:xfrm>
                <a:off x="5148641" y="2747322"/>
                <a:ext cx="6402794" cy="93024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2800" dirty="0" err="1">
                    <a:solidFill>
                      <a:srgbClr val="002060"/>
                    </a:solidFill>
                  </a:rPr>
                  <a:t>O</a:t>
                </a:r>
                <a:r>
                  <a:rPr lang="en-US" sz="2800" dirty="0" err="1"/>
                  <a:t>ceanSense</a:t>
                </a:r>
                <a:r>
                  <a:rPr lang="en-US" sz="2800" dirty="0"/>
                  <a:t>: An IoT-Based Hybrid System for Real-Time Detection and Tracking of Marine Debris</a:t>
                </a:r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FD1E722-D1D8-0766-A200-13F324EA1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6653" y="2380408"/>
                <a:ext cx="4456007" cy="384738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5855B50-14FD-1ECF-8CF5-A06E24C3C438}"/>
                </a:ext>
              </a:extLst>
            </p:cNvPr>
            <p:cNvSpPr txBox="1"/>
            <p:nvPr/>
          </p:nvSpPr>
          <p:spPr>
            <a:xfrm>
              <a:off x="5306653" y="4035145"/>
              <a:ext cx="3124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2060"/>
                  </a:solidFill>
                </a:rPr>
                <a:t>Group ID : 25-26J-002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04DDDC02-0E53-932D-2B1E-B654772F7C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4D6EF89-48AF-BDEC-2EF4-BBC59505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88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B02EA-70A1-7D3B-F64A-A26A06BE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4716842E-50AE-80E6-1077-08B4DC058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890688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37BB6D0-467D-0EA9-29D9-928DE5F3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A3EE47-320D-384D-EB4C-788FFD933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0B5E0-FD70-957D-130F-5C3AB42351E4}"/>
              </a:ext>
            </a:extLst>
          </p:cNvPr>
          <p:cNvSpPr txBox="1"/>
          <p:nvPr/>
        </p:nvSpPr>
        <p:spPr>
          <a:xfrm>
            <a:off x="4235699" y="276762"/>
            <a:ext cx="5460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Our Research Team</a:t>
            </a:r>
            <a:endParaRPr lang="en-US" sz="36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909B7EA-F8B6-E2F3-D1B1-D7334C51EF44}"/>
              </a:ext>
            </a:extLst>
          </p:cNvPr>
          <p:cNvGrpSpPr/>
          <p:nvPr/>
        </p:nvGrpSpPr>
        <p:grpSpPr>
          <a:xfrm>
            <a:off x="3060651" y="1199696"/>
            <a:ext cx="7959009" cy="5064819"/>
            <a:chOff x="1285174" y="1056888"/>
            <a:chExt cx="7959009" cy="506481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19BEB07-E2CE-DB99-999D-8E39A078F7B0}"/>
                </a:ext>
              </a:extLst>
            </p:cNvPr>
            <p:cNvGrpSpPr/>
            <p:nvPr/>
          </p:nvGrpSpPr>
          <p:grpSpPr>
            <a:xfrm>
              <a:off x="5276898" y="1071500"/>
              <a:ext cx="2834527" cy="2240143"/>
              <a:chOff x="4678113" y="1317301"/>
              <a:chExt cx="2834527" cy="2240143"/>
            </a:xfrm>
          </p:grpSpPr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C8252AF6-92B4-4855-9647-FABD56F53F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8" t="-206" r="13521" b="12840"/>
              <a:stretch>
                <a:fillRect/>
              </a:stretch>
            </p:blipFill>
            <p:spPr bwMode="auto">
              <a:xfrm>
                <a:off x="5194907" y="1317301"/>
                <a:ext cx="1281903" cy="1608424"/>
              </a:xfrm>
              <a:prstGeom prst="ellipse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FB8ECF-F015-1620-7126-783BD4C28C9A}"/>
                  </a:ext>
                </a:extLst>
              </p:cNvPr>
              <p:cNvSpPr txBox="1"/>
              <p:nvPr/>
            </p:nvSpPr>
            <p:spPr>
              <a:xfrm>
                <a:off x="4678113" y="2911113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Ms. Narmada Gamage</a:t>
                </a:r>
              </a:p>
              <a:p>
                <a:pPr algn="ctr" fontAlgn="base"/>
                <a:r>
                  <a:rPr lang="en-US" dirty="0"/>
                  <a:t>Co-Supervisor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7934C51-51AB-0E46-0A54-C9FD29900485}"/>
                </a:ext>
              </a:extLst>
            </p:cNvPr>
            <p:cNvGrpSpPr/>
            <p:nvPr/>
          </p:nvGrpSpPr>
          <p:grpSpPr>
            <a:xfrm>
              <a:off x="2355721" y="1056888"/>
              <a:ext cx="2834527" cy="2255668"/>
              <a:chOff x="2568448" y="1302690"/>
              <a:chExt cx="2834527" cy="2255668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0E6035EC-6521-77E5-9EE4-6056D03144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340" t="-208" r="25543" b="46502"/>
              <a:stretch>
                <a:fillRect/>
              </a:stretch>
            </p:blipFill>
            <p:spPr bwMode="auto">
              <a:xfrm>
                <a:off x="3344761" y="1302690"/>
                <a:ext cx="1281903" cy="1608424"/>
              </a:xfrm>
              <a:prstGeom prst="ellipse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41DDC0-D05D-C038-BA78-210F1B08FC62}"/>
                  </a:ext>
                </a:extLst>
              </p:cNvPr>
              <p:cNvSpPr txBox="1"/>
              <p:nvPr/>
            </p:nvSpPr>
            <p:spPr>
              <a:xfrm>
                <a:off x="2568448" y="2912027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Ms. Dinithi Pandithage</a:t>
                </a:r>
              </a:p>
              <a:p>
                <a:pPr algn="ctr" fontAlgn="base"/>
                <a:r>
                  <a:rPr lang="en-US" dirty="0"/>
                  <a:t>Supervisor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8D15430-F691-566E-1275-B201DBEA7849}"/>
                </a:ext>
              </a:extLst>
            </p:cNvPr>
            <p:cNvGrpSpPr/>
            <p:nvPr/>
          </p:nvGrpSpPr>
          <p:grpSpPr>
            <a:xfrm>
              <a:off x="1285174" y="3621417"/>
              <a:ext cx="2834527" cy="2500290"/>
              <a:chOff x="2273831" y="3608832"/>
              <a:chExt cx="2834527" cy="2500290"/>
            </a:xfrm>
          </p:grpSpPr>
          <p:grpSp>
            <p:nvGrpSpPr>
              <p:cNvPr id="8" name="Group 10">
                <a:extLst>
                  <a:ext uri="{FF2B5EF4-FFF2-40B4-BE49-F238E27FC236}">
                    <a16:creationId xmlns:a16="http://schemas.microsoft.com/office/drawing/2014/main" id="{774980DC-B8DA-69BC-036C-AE57F2EF091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970897" y="3608832"/>
                <a:ext cx="1440396" cy="1804247"/>
                <a:chOff x="0" y="0"/>
                <a:chExt cx="1673574" cy="2096327"/>
              </a:xfrm>
            </p:grpSpPr>
            <p:sp>
              <p:nvSpPr>
                <p:cNvPr id="9" name="Freeform 11">
                  <a:extLst>
                    <a:ext uri="{FF2B5EF4-FFF2-40B4-BE49-F238E27FC236}">
                      <a16:creationId xmlns:a16="http://schemas.microsoft.com/office/drawing/2014/main" id="{FB95F6A2-C33B-0783-289A-13DFA8F0BCD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73574" cy="2096327"/>
                </a:xfrm>
                <a:prstGeom prst="ellipse">
                  <a:avLst/>
                </a:prstGeom>
                <a:blipFill>
                  <a:blip r:embed="rId6"/>
                  <a:stretch>
                    <a:fillRect l="-4879" r="-4879"/>
                  </a:stretch>
                </a:blipFill>
                <a:ln w="28575" cap="sq">
                  <a:solidFill>
                    <a:srgbClr val="0070C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B92EC0-7C4A-D877-025B-B51EAFD126BD}"/>
                  </a:ext>
                </a:extLst>
              </p:cNvPr>
              <p:cNvSpPr txBox="1"/>
              <p:nvPr/>
            </p:nvSpPr>
            <p:spPr>
              <a:xfrm>
                <a:off x="2273831" y="5462791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Jayasak D.L.C.</a:t>
                </a:r>
              </a:p>
              <a:p>
                <a:pPr algn="ctr" fontAlgn="base"/>
                <a:r>
                  <a:rPr lang="en-US" dirty="0"/>
                  <a:t>Leader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61FE772-0D54-1479-E340-84F78AAC477B}"/>
                </a:ext>
              </a:extLst>
            </p:cNvPr>
            <p:cNvGrpSpPr/>
            <p:nvPr/>
          </p:nvGrpSpPr>
          <p:grpSpPr>
            <a:xfrm>
              <a:off x="3772986" y="3626490"/>
              <a:ext cx="2834527" cy="2495217"/>
              <a:chOff x="4179651" y="3611711"/>
              <a:chExt cx="2834527" cy="2495217"/>
            </a:xfrm>
          </p:grpSpPr>
          <p:grpSp>
            <p:nvGrpSpPr>
              <p:cNvPr id="10" name="Group 32">
                <a:extLst>
                  <a:ext uri="{FF2B5EF4-FFF2-40B4-BE49-F238E27FC236}">
                    <a16:creationId xmlns:a16="http://schemas.microsoft.com/office/drawing/2014/main" id="{AEE2971B-2FD4-AF4E-AFD7-9F3FBBAC4B8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877866" y="3611711"/>
                <a:ext cx="1438098" cy="1801368"/>
                <a:chOff x="0" y="0"/>
                <a:chExt cx="1673574" cy="2096327"/>
              </a:xfrm>
            </p:grpSpPr>
            <p:sp>
              <p:nvSpPr>
                <p:cNvPr id="11" name="Freeform 33">
                  <a:extLst>
                    <a:ext uri="{FF2B5EF4-FFF2-40B4-BE49-F238E27FC236}">
                      <a16:creationId xmlns:a16="http://schemas.microsoft.com/office/drawing/2014/main" id="{71916A36-6EA8-E8EB-BA57-0A216F26F4A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73574" cy="2096327"/>
                </a:xfrm>
                <a:prstGeom prst="ellipse">
                  <a:avLst/>
                </a:prstGeom>
                <a:blipFill>
                  <a:blip r:embed="rId7"/>
                  <a:stretch>
                    <a:fillRect l="-1411" r="-1411"/>
                  </a:stretch>
                </a:blipFill>
                <a:ln w="28575" cap="sq">
                  <a:solidFill>
                    <a:srgbClr val="0070C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12D1-7C17-6142-3591-D98B3B0CC3CF}"/>
                  </a:ext>
                </a:extLst>
              </p:cNvPr>
              <p:cNvSpPr txBox="1"/>
              <p:nvPr/>
            </p:nvSpPr>
            <p:spPr>
              <a:xfrm>
                <a:off x="4179651" y="5460597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Rathnayake G.R.M.S.D.</a:t>
                </a:r>
              </a:p>
              <a:p>
                <a:pPr algn="ctr" fontAlgn="base"/>
                <a:r>
                  <a:rPr lang="en-US" dirty="0"/>
                  <a:t>Member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1E8D05-8FF6-5423-FFCB-A9396B23E62C}"/>
                </a:ext>
              </a:extLst>
            </p:cNvPr>
            <p:cNvGrpSpPr/>
            <p:nvPr/>
          </p:nvGrpSpPr>
          <p:grpSpPr>
            <a:xfrm>
              <a:off x="6409656" y="3621417"/>
              <a:ext cx="2834527" cy="2493023"/>
              <a:chOff x="6434054" y="3611711"/>
              <a:chExt cx="2834527" cy="2493023"/>
            </a:xfrm>
          </p:grpSpPr>
          <p:grpSp>
            <p:nvGrpSpPr>
              <p:cNvPr id="12" name="Group 16">
                <a:extLst>
                  <a:ext uri="{FF2B5EF4-FFF2-40B4-BE49-F238E27FC236}">
                    <a16:creationId xmlns:a16="http://schemas.microsoft.com/office/drawing/2014/main" id="{4F358722-0D09-0552-C2B2-6145128E1D8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132269" y="3611711"/>
                <a:ext cx="1438098" cy="1801368"/>
                <a:chOff x="0" y="0"/>
                <a:chExt cx="1673574" cy="2096327"/>
              </a:xfrm>
            </p:grpSpPr>
            <p:sp>
              <p:nvSpPr>
                <p:cNvPr id="13" name="Freeform 17">
                  <a:extLst>
                    <a:ext uri="{FF2B5EF4-FFF2-40B4-BE49-F238E27FC236}">
                      <a16:creationId xmlns:a16="http://schemas.microsoft.com/office/drawing/2014/main" id="{FC9ACB4F-A19A-76C5-7BA4-3CA3A6103ED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73574" cy="2096327"/>
                </a:xfrm>
                <a:prstGeom prst="ellipse">
                  <a:avLst/>
                </a:prstGeom>
                <a:blipFill>
                  <a:blip r:embed="rId8"/>
                  <a:stretch>
                    <a:fillRect l="-40762" r="-43722" b="-47818"/>
                  </a:stretch>
                </a:blipFill>
                <a:ln w="28575" cap="sq">
                  <a:solidFill>
                    <a:srgbClr val="0070C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00E063-14A6-8DBC-AE0C-DEBEBF9260F9}"/>
                  </a:ext>
                </a:extLst>
              </p:cNvPr>
              <p:cNvSpPr txBox="1"/>
              <p:nvPr/>
            </p:nvSpPr>
            <p:spPr>
              <a:xfrm>
                <a:off x="6434054" y="5458403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Abeysinghe P.T.G.S.R.</a:t>
                </a:r>
              </a:p>
              <a:p>
                <a:pPr algn="ctr" fontAlgn="base"/>
                <a:r>
                  <a:rPr lang="en-US" dirty="0"/>
                  <a:t>Member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00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7583-7937-BD11-6DEB-EBBD6E3E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17A7C590-F1C3-6090-165A-D52D79DB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66" r="34802" b="-1"/>
          <a:stretch>
            <a:fillRect/>
          </a:stretch>
        </p:blipFill>
        <p:spPr>
          <a:xfrm>
            <a:off x="-4274483" y="-6273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86276A-36AA-A94E-F026-B1E6B0398404}"/>
              </a:ext>
            </a:extLst>
          </p:cNvPr>
          <p:cNvSpPr txBox="1"/>
          <p:nvPr/>
        </p:nvSpPr>
        <p:spPr>
          <a:xfrm>
            <a:off x="801513" y="996027"/>
            <a:ext cx="9051413" cy="8820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PP2 Comments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B663CF-CAFB-70A8-B385-C350C6DD72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53" b="5301"/>
          <a:stretch>
            <a:fillRect/>
          </a:stretch>
        </p:blipFill>
        <p:spPr>
          <a:xfrm>
            <a:off x="0" y="6258232"/>
            <a:ext cx="12192000" cy="599768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8B75278-1DD9-0031-F2AE-6631DFD4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E4E0FA-E87B-40D6-EC2D-576FF6A80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143274"/>
              </p:ext>
            </p:extLst>
          </p:nvPr>
        </p:nvGraphicFramePr>
        <p:xfrm>
          <a:off x="711247" y="1812369"/>
          <a:ext cx="10878460" cy="4705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528">
                  <a:extLst>
                    <a:ext uri="{9D8B030D-6E8A-4147-A177-3AD203B41FA5}">
                      <a16:colId xmlns:a16="http://schemas.microsoft.com/office/drawing/2014/main" val="3699373164"/>
                    </a:ext>
                  </a:extLst>
                </a:gridCol>
                <a:gridCol w="5558932">
                  <a:extLst>
                    <a:ext uri="{9D8B030D-6E8A-4147-A177-3AD203B41FA5}">
                      <a16:colId xmlns:a16="http://schemas.microsoft.com/office/drawing/2014/main" val="3991868485"/>
                    </a:ext>
                  </a:extLst>
                </a:gridCol>
              </a:tblGrid>
              <a:tr h="523970">
                <a:tc>
                  <a:txBody>
                    <a:bodyPr/>
                    <a:lstStyle/>
                    <a:p>
                      <a:r>
                        <a:rPr lang="en-US" dirty="0"/>
                        <a:t>Panel 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042042"/>
                  </a:ext>
                </a:extLst>
              </a:tr>
              <a:tr h="904386">
                <a:tc>
                  <a:txBody>
                    <a:bodyPr/>
                    <a:lstStyle/>
                    <a:p>
                      <a:r>
                        <a:rPr lang="en-US" dirty="0"/>
                        <a:t>Incorporate energy harvesting mechanisms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and implemented a hybrid energy harvesting system, including wave-driven energy generation to enable operation during low or no sunlight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726508"/>
                  </a:ext>
                </a:extLst>
              </a:tr>
              <a:tr h="523970">
                <a:tc>
                  <a:txBody>
                    <a:bodyPr/>
                    <a:lstStyle/>
                    <a:p>
                      <a:r>
                        <a:rPr lang="en-US" dirty="0"/>
                        <a:t>Improve clarity of the 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Enhanced problem definition by incorporating real-world statistics and contextual data on marine debris and energy constraints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767446"/>
                  </a:ext>
                </a:extLst>
              </a:tr>
              <a:tr h="523970">
                <a:tc>
                  <a:txBody>
                    <a:bodyPr/>
                    <a:lstStyle/>
                    <a:p>
                      <a:r>
                        <a:rPr lang="en-US" dirty="0"/>
                        <a:t>Complete the system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Developed a comprehensive and practical device architecture tailored for deployment in ocean environments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403193"/>
                  </a:ext>
                </a:extLst>
              </a:tr>
              <a:tr h="523970">
                <a:tc>
                  <a:txBody>
                    <a:bodyPr/>
                    <a:lstStyle/>
                    <a:p>
                      <a:r>
                        <a:rPr lang="en-US" dirty="0"/>
                        <a:t>Implement LoRa to working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 node to node communication via LoRa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10138"/>
                  </a:ext>
                </a:extLst>
              </a:tr>
              <a:tr h="523970">
                <a:tc>
                  <a:txBody>
                    <a:bodyPr/>
                    <a:lstStyle/>
                    <a:p>
                      <a:r>
                        <a:rPr lang="en-US" dirty="0"/>
                        <a:t>ERAC to control real packets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Integrated the ERAC protocol to manage real-time packet transmission and adaptive LoRa communication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1008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E2BDFE9-87F8-FE27-2438-90D0E73CB789}"/>
              </a:ext>
            </a:extLst>
          </p:cNvPr>
          <p:cNvSpPr txBox="1"/>
          <p:nvPr/>
        </p:nvSpPr>
        <p:spPr>
          <a:xfrm>
            <a:off x="791948" y="-6273"/>
            <a:ext cx="9345565" cy="10023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 err="1">
                <a:latin typeface="+mj-lt"/>
                <a:ea typeface="+mj-ea"/>
                <a:cs typeface="+mj-cs"/>
              </a:rPr>
              <a:t>OceanSense</a:t>
            </a:r>
            <a:r>
              <a:rPr lang="en-US" sz="5400" b="1" dirty="0">
                <a:latin typeface="+mj-lt"/>
                <a:ea typeface="+mj-ea"/>
                <a:cs typeface="+mj-cs"/>
              </a:rPr>
              <a:t>: An IoT-Based Hybrid System for Real-Time Detection and Tracking of Marine Debris  </a:t>
            </a:r>
          </a:p>
        </p:txBody>
      </p:sp>
    </p:spTree>
    <p:extLst>
      <p:ext uri="{BB962C8B-B14F-4D97-AF65-F5344CB8AC3E}">
        <p14:creationId xmlns:p14="http://schemas.microsoft.com/office/powerpoint/2010/main" val="3671808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4A9BE-217A-F547-79C1-23B7EA41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14C6C92B-4274-314F-168C-6FD7CDF64A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66" r="34802" b="-1"/>
          <a:stretch>
            <a:fillRect/>
          </a:stretch>
        </p:blipFill>
        <p:spPr>
          <a:xfrm>
            <a:off x="-2228004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5008DF-3F3A-5276-EF88-D67FF71345B0}"/>
              </a:ext>
            </a:extLst>
          </p:cNvPr>
          <p:cNvSpPr txBox="1"/>
          <p:nvPr/>
        </p:nvSpPr>
        <p:spPr>
          <a:xfrm>
            <a:off x="2429340" y="1293049"/>
            <a:ext cx="9051413" cy="8820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Problem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516D67-7BD9-B8AE-5811-49853F8B93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4916DEF-A231-8C85-3E18-31431DEF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F4C20-F75D-65E2-7C5B-C88DB1096C2C}"/>
              </a:ext>
            </a:extLst>
          </p:cNvPr>
          <p:cNvSpPr txBox="1"/>
          <p:nvPr/>
        </p:nvSpPr>
        <p:spPr>
          <a:xfrm>
            <a:off x="2359488" y="265022"/>
            <a:ext cx="9345565" cy="10023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 err="1">
                <a:latin typeface="+mj-lt"/>
                <a:ea typeface="+mj-ea"/>
                <a:cs typeface="+mj-cs"/>
              </a:rPr>
              <a:t>OceanSense</a:t>
            </a:r>
            <a:r>
              <a:rPr lang="en-US" sz="5400" b="1" dirty="0">
                <a:latin typeface="+mj-lt"/>
                <a:ea typeface="+mj-ea"/>
                <a:cs typeface="+mj-cs"/>
              </a:rPr>
              <a:t>: An IoT-Based Hybrid System for Real-Time Detection and Tracking of Marine Debris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E69643-13E9-907A-A2B5-3B4E8547FA9E}"/>
              </a:ext>
            </a:extLst>
          </p:cNvPr>
          <p:cNvSpPr txBox="1"/>
          <p:nvPr/>
        </p:nvSpPr>
        <p:spPr>
          <a:xfrm>
            <a:off x="2429340" y="2317901"/>
            <a:ext cx="930124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Marine plastic pollution is a </a:t>
            </a:r>
            <a:r>
              <a:rPr lang="en-US" sz="2000" b="1" dirty="0"/>
              <a:t>global crisis</a:t>
            </a:r>
            <a:r>
              <a:rPr lang="en-US" sz="20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 Existing systems: </a:t>
            </a:r>
          </a:p>
          <a:p>
            <a:pPr lvl="1"/>
            <a:r>
              <a:rPr lang="en-US" sz="2000" dirty="0"/>
              <a:t>❌ Expensive (satellites, patrols) </a:t>
            </a:r>
          </a:p>
          <a:p>
            <a:pPr lvl="1"/>
            <a:r>
              <a:rPr lang="en-US" sz="2000" dirty="0"/>
              <a:t>❌ Limited coverage </a:t>
            </a:r>
          </a:p>
          <a:p>
            <a:pPr lvl="1"/>
            <a:r>
              <a:rPr lang="en-US" sz="2000" dirty="0"/>
              <a:t>❌ High energy consumption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Challenges: </a:t>
            </a:r>
          </a:p>
          <a:p>
            <a:pPr lvl="1"/>
            <a:r>
              <a:rPr lang="en-US" sz="2000" dirty="0"/>
              <a:t>Low communication bandwidth (LoRa limits) </a:t>
            </a:r>
          </a:p>
          <a:p>
            <a:pPr lvl="1"/>
            <a:r>
              <a:rPr lang="en-US" sz="2000" dirty="0"/>
              <a:t>Dynamic ocean conditions (waves, currents) </a:t>
            </a:r>
          </a:p>
          <a:p>
            <a:pPr lvl="1"/>
            <a:r>
              <a:rPr lang="en-US" sz="2000" dirty="0"/>
              <a:t>No scalable decentralized solution </a:t>
            </a:r>
          </a:p>
          <a:p>
            <a:r>
              <a:rPr lang="en-US" sz="2000" dirty="0"/>
              <a:t>👉 </a:t>
            </a:r>
            <a:r>
              <a:rPr lang="en-US" sz="2000" b="1" dirty="0"/>
              <a:t>Core Problem:</a:t>
            </a:r>
            <a:br>
              <a:rPr lang="en-US" sz="2000" dirty="0"/>
            </a:br>
            <a:r>
              <a:rPr lang="en-US" sz="2000" dirty="0"/>
              <a:t>How to efficiently track marine debris using </a:t>
            </a:r>
            <a:r>
              <a:rPr lang="en-US" sz="2000" b="1" dirty="0"/>
              <a:t>low-power, decentralized autonomous systems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381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646D-E6C4-52FA-E739-6E8ED4FA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222B6655-6E07-757A-24C4-516992E9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192596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53FD02-0F80-1964-3540-E9132B964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50FA9-F590-1682-A490-F3E232F9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4A745-BD1F-37E3-38F7-8D7A0DD5F6B8}"/>
              </a:ext>
            </a:extLst>
          </p:cNvPr>
          <p:cNvSpPr txBox="1"/>
          <p:nvPr/>
        </p:nvSpPr>
        <p:spPr>
          <a:xfrm>
            <a:off x="2927684" y="1396940"/>
            <a:ext cx="842611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 </a:t>
            </a:r>
            <a:r>
              <a:rPr lang="en-US" sz="2000" b="1" dirty="0"/>
              <a:t>ERAC: Environment-Responsive Adaptive Coordination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Swarm dynamically adapts using: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Wave height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Ocean currents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Debris density </a:t>
            </a:r>
          </a:p>
          <a:p>
            <a:pPr>
              <a:buNone/>
            </a:pPr>
            <a:r>
              <a:rPr lang="en-US" sz="2000" dirty="0"/>
              <a:t> </a:t>
            </a:r>
            <a:r>
              <a:rPr lang="en-US" sz="2000" b="1" dirty="0"/>
              <a:t>Decentralized Swarm Intelligence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central controller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ASV makes autonomous decisions </a:t>
            </a:r>
          </a:p>
          <a:p>
            <a:pPr>
              <a:buNone/>
            </a:pPr>
            <a:r>
              <a:rPr lang="en-US" sz="2000" dirty="0"/>
              <a:t> </a:t>
            </a:r>
            <a:r>
              <a:rPr lang="en-US" sz="2000" b="1" dirty="0"/>
              <a:t>LoRa-Based Communication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Long-range, low-power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Works under bandwidth constraints </a:t>
            </a:r>
          </a:p>
          <a:p>
            <a:pPr>
              <a:buNone/>
            </a:pPr>
            <a:r>
              <a:rPr lang="en-US" sz="2000" dirty="0"/>
              <a:t> </a:t>
            </a:r>
            <a:r>
              <a:rPr lang="en-US" sz="2000" b="1" dirty="0"/>
              <a:t>Edge AI Processing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On-device debris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Only metadata transmitted </a:t>
            </a:r>
          </a:p>
          <a:p>
            <a:pPr>
              <a:buNone/>
            </a:pPr>
            <a:r>
              <a:rPr lang="en-US" sz="2000" dirty="0"/>
              <a:t> </a:t>
            </a:r>
            <a:r>
              <a:rPr lang="en-US" sz="2000" b="1" dirty="0"/>
              <a:t>Self-Healing Capability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Detects node failures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Automatically redistributes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27EC7-B938-ED14-93A6-24629D521063}"/>
              </a:ext>
            </a:extLst>
          </p:cNvPr>
          <p:cNvSpPr txBox="1"/>
          <p:nvPr/>
        </p:nvSpPr>
        <p:spPr>
          <a:xfrm>
            <a:off x="2286338" y="562577"/>
            <a:ext cx="848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Design Excellence</a:t>
            </a:r>
          </a:p>
        </p:txBody>
      </p:sp>
    </p:spTree>
    <p:extLst>
      <p:ext uri="{BB962C8B-B14F-4D97-AF65-F5344CB8AC3E}">
        <p14:creationId xmlns:p14="http://schemas.microsoft.com/office/powerpoint/2010/main" val="2810246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chnological background">
            <a:extLst>
              <a:ext uri="{FF2B5EF4-FFF2-40B4-BE49-F238E27FC236}">
                <a16:creationId xmlns:a16="http://schemas.microsoft.com/office/drawing/2014/main" id="{BC543A8F-9C80-A572-DBFC-E0E7F28B71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1" y="10"/>
            <a:ext cx="3704896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Group 10">
            <a:extLst>
              <a:ext uri="{FF2B5EF4-FFF2-40B4-BE49-F238E27FC236}">
                <a16:creationId xmlns:a16="http://schemas.microsoft.com/office/drawing/2014/main" id="{6AF046BC-DADF-515B-4495-49D20BEB9CD2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9901909" y="234238"/>
            <a:ext cx="2018695" cy="2528627"/>
            <a:chOff x="0" y="0"/>
            <a:chExt cx="1673574" cy="2096327"/>
          </a:xfrm>
        </p:grpSpPr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A608A676-D5DC-0AD9-1AE0-2669046027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673574" cy="2096327"/>
            </a:xfrm>
            <a:custGeom>
              <a:avLst/>
              <a:gdLst/>
              <a:ahLst/>
              <a:cxnLst/>
              <a:rect l="l" t="t" r="r" b="b"/>
              <a:pathLst>
                <a:path w="1673574" h="2096327">
                  <a:moveTo>
                    <a:pt x="0" y="0"/>
                  </a:moveTo>
                  <a:lnTo>
                    <a:pt x="1673574" y="0"/>
                  </a:lnTo>
                  <a:lnTo>
                    <a:pt x="1673574" y="2096327"/>
                  </a:lnTo>
                  <a:lnTo>
                    <a:pt x="0" y="2096327"/>
                  </a:lnTo>
                  <a:close/>
                </a:path>
              </a:pathLst>
            </a:custGeom>
            <a:blipFill>
              <a:blip r:embed="rId3"/>
              <a:stretch>
                <a:fillRect l="-4879" r="-4879"/>
              </a:stretch>
            </a:blip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BE536C-59C1-CB6C-E062-959ABCAB074E}"/>
              </a:ext>
            </a:extLst>
          </p:cNvPr>
          <p:cNvGrpSpPr/>
          <p:nvPr/>
        </p:nvGrpSpPr>
        <p:grpSpPr>
          <a:xfrm>
            <a:off x="4288222" y="93544"/>
            <a:ext cx="7605394" cy="6411002"/>
            <a:chOff x="4434407" y="2264321"/>
            <a:chExt cx="7291789" cy="235507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5E667E-D39F-0049-15B7-76B739964679}"/>
                </a:ext>
              </a:extLst>
            </p:cNvPr>
            <p:cNvSpPr txBox="1"/>
            <p:nvPr/>
          </p:nvSpPr>
          <p:spPr>
            <a:xfrm>
              <a:off x="4434407" y="3296577"/>
              <a:ext cx="7291789" cy="132281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3000" b="1" dirty="0"/>
                <a:t>Node Designing and Self-Healing Mechanism</a:t>
              </a:r>
              <a:br>
                <a:rPr lang="en-US" sz="2400" dirty="0"/>
              </a:br>
              <a:r>
                <a:rPr lang="en-US" sz="2400" b="1" dirty="0"/>
                <a:t>Description:</a:t>
              </a:r>
              <a:br>
                <a:rPr lang="en-US" sz="2400" dirty="0"/>
              </a:br>
              <a:r>
                <a:rPr lang="en-US" sz="2400" dirty="0"/>
                <a:t>Design of buoyant sensor node with hardware components and autonomous fault recovery</a:t>
              </a:r>
            </a:p>
            <a:p>
              <a:r>
                <a:rPr lang="en-US" sz="2400" b="1" dirty="0"/>
                <a:t>Novelty:</a:t>
              </a:r>
              <a:br>
                <a:rPr lang="en-US" sz="2400" dirty="0"/>
              </a:br>
              <a:r>
                <a:rPr lang="en-US" sz="2400" dirty="0"/>
                <a:t>Lightweight self-healing mechanism without centralized control</a:t>
              </a:r>
            </a:p>
            <a:p>
              <a:r>
                <a:rPr lang="en-US" sz="2400" dirty="0"/>
                <a:t>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BE6623-0F9E-0B54-272E-FB2745DD455C}"/>
                </a:ext>
              </a:extLst>
            </p:cNvPr>
            <p:cNvSpPr txBox="1"/>
            <p:nvPr/>
          </p:nvSpPr>
          <p:spPr>
            <a:xfrm>
              <a:off x="4434407" y="2980717"/>
              <a:ext cx="7144190" cy="237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Specialization – Computer Systems &amp; Network </a:t>
              </a:r>
            </a:p>
            <a:p>
              <a:r>
                <a:rPr lang="en-US" dirty="0"/>
                <a:t>Engineering</a:t>
              </a:r>
            </a:p>
          </p:txBody>
        </p:sp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9CD16BD3-BCC5-3322-E02A-7ADDAD82CD48}"/>
                </a:ext>
              </a:extLst>
            </p:cNvPr>
            <p:cNvSpPr txBox="1">
              <a:spLocks/>
            </p:cNvSpPr>
            <p:nvPr/>
          </p:nvSpPr>
          <p:spPr>
            <a:xfrm>
              <a:off x="4434407" y="2264321"/>
              <a:ext cx="7150382" cy="928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/>
                <a:t>IT22908360 </a:t>
              </a:r>
              <a:br>
                <a:rPr lang="en-US" b="1" dirty="0"/>
              </a:br>
              <a:r>
                <a:rPr lang="en-US" b="1" dirty="0"/>
                <a:t>Jayasak D.L.C.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ABC6CE3-BBDD-CB37-8633-325AC4C770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814EA1-E9DB-FCA4-98C3-21C2A2F8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BC13C-F2AC-9473-B167-E41986D03259}"/>
              </a:ext>
            </a:extLst>
          </p:cNvPr>
          <p:cNvSpPr txBox="1"/>
          <p:nvPr/>
        </p:nvSpPr>
        <p:spPr>
          <a:xfrm>
            <a:off x="3409766" y="6364344"/>
            <a:ext cx="5372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8640"/>
            <a:r>
              <a:rPr lang="en-AU" sz="2000" b="1">
                <a:solidFill>
                  <a:schemeClr val="bg2">
                    <a:lumMod val="10000"/>
                  </a:schemeClr>
                </a:solidFill>
                <a:latin typeface="+mj-lt"/>
                <a:cs typeface="Poppins" panose="00000500000000000000" pitchFamily="2" charset="0"/>
              </a:rPr>
              <a:t>IT22908360</a:t>
            </a:r>
            <a:r>
              <a:rPr lang="en-US" sz="2000" b="1">
                <a:solidFill>
                  <a:schemeClr val="bg2">
                    <a:lumMod val="10000"/>
                  </a:schemeClr>
                </a:solidFill>
                <a:latin typeface="+mj-lt"/>
                <a:cs typeface="Poppins" panose="00000500000000000000" pitchFamily="2" charset="0"/>
              </a:rPr>
              <a:t> | Jayasak D.L.C. | 25-26J-002  </a:t>
            </a:r>
          </a:p>
        </p:txBody>
      </p:sp>
    </p:spTree>
    <p:extLst>
      <p:ext uri="{BB962C8B-B14F-4D97-AF65-F5344CB8AC3E}">
        <p14:creationId xmlns:p14="http://schemas.microsoft.com/office/powerpoint/2010/main" val="1892409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4502-E53D-222E-F5ED-4BE480DF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echnological background">
            <a:extLst>
              <a:ext uri="{FF2B5EF4-FFF2-40B4-BE49-F238E27FC236}">
                <a16:creationId xmlns:a16="http://schemas.microsoft.com/office/drawing/2014/main" id="{000DA9E4-B109-B15D-034B-8B7AEB02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1" y="10"/>
            <a:ext cx="3728539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6" name="Group 32">
            <a:extLst>
              <a:ext uri="{FF2B5EF4-FFF2-40B4-BE49-F238E27FC236}">
                <a16:creationId xmlns:a16="http://schemas.microsoft.com/office/drawing/2014/main" id="{D6432F25-AD34-DC6F-E074-A6EFEE98C786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9902952" y="237744"/>
            <a:ext cx="2022097" cy="2532888"/>
            <a:chOff x="0" y="0"/>
            <a:chExt cx="1673574" cy="2096327"/>
          </a:xfrm>
        </p:grpSpPr>
        <p:sp>
          <p:nvSpPr>
            <p:cNvPr id="7" name="Freeform 33">
              <a:extLst>
                <a:ext uri="{FF2B5EF4-FFF2-40B4-BE49-F238E27FC236}">
                  <a16:creationId xmlns:a16="http://schemas.microsoft.com/office/drawing/2014/main" id="{D5E5C0F1-51CB-1D8C-FF98-77AE66621C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673574" cy="2096327"/>
            </a:xfrm>
            <a:custGeom>
              <a:avLst/>
              <a:gdLst/>
              <a:ahLst/>
              <a:cxnLst/>
              <a:rect l="l" t="t" r="r" b="b"/>
              <a:pathLst>
                <a:path w="1673574" h="2096327">
                  <a:moveTo>
                    <a:pt x="0" y="0"/>
                  </a:moveTo>
                  <a:lnTo>
                    <a:pt x="1673574" y="0"/>
                  </a:lnTo>
                  <a:lnTo>
                    <a:pt x="1673574" y="2096327"/>
                  </a:lnTo>
                  <a:lnTo>
                    <a:pt x="0" y="2096327"/>
                  </a:lnTo>
                  <a:close/>
                </a:path>
              </a:pathLst>
            </a:custGeom>
            <a:blipFill>
              <a:blip r:embed="rId3"/>
              <a:stretch>
                <a:fillRect l="-1411" r="-1411"/>
              </a:stretch>
            </a:blip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2818B5-0B0E-8FBA-07F3-05EA13224071}"/>
              </a:ext>
            </a:extLst>
          </p:cNvPr>
          <p:cNvGrpSpPr/>
          <p:nvPr/>
        </p:nvGrpSpPr>
        <p:grpSpPr>
          <a:xfrm>
            <a:off x="4064969" y="464115"/>
            <a:ext cx="7860080" cy="5890149"/>
            <a:chOff x="3864259" y="495057"/>
            <a:chExt cx="7860080" cy="589014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4145BD-A5AF-86B0-101F-F0838DA114B5}"/>
                </a:ext>
              </a:extLst>
            </p:cNvPr>
            <p:cNvSpPr txBox="1"/>
            <p:nvPr/>
          </p:nvSpPr>
          <p:spPr>
            <a:xfrm>
              <a:off x="3864259" y="2784220"/>
              <a:ext cx="7860080" cy="3600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ERAC-MAC: Energy-Aware, Resilient, Adaptive MAC Protocol</a:t>
              </a:r>
              <a:br>
                <a:rPr lang="en-US" sz="2400" dirty="0"/>
              </a:br>
              <a:r>
                <a:rPr lang="en-US" sz="2400" b="1" dirty="0"/>
                <a:t>Description:</a:t>
              </a:r>
              <a:br>
                <a:rPr lang="en-US" sz="2400" dirty="0"/>
              </a:br>
              <a:r>
                <a:rPr lang="en-US" sz="2400" dirty="0"/>
                <a:t>LoRa-based communication protocol optimized for low power and efficient data transmission</a:t>
              </a:r>
            </a:p>
            <a:p>
              <a:r>
                <a:rPr lang="en-US" sz="2400" b="1" dirty="0"/>
                <a:t>Novelty:</a:t>
              </a:r>
              <a:br>
                <a:rPr lang="en-US" sz="2400" dirty="0"/>
              </a:br>
              <a:r>
                <a:rPr lang="en-US" sz="2400" dirty="0"/>
                <a:t>Energy-aware scheduling integrated with swarm communication</a:t>
              </a:r>
            </a:p>
            <a:p>
              <a:endParaRPr lang="en-US" sz="2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64FFC3-8977-2E7F-E3A9-4B5A13F04697}"/>
                </a:ext>
              </a:extLst>
            </p:cNvPr>
            <p:cNvSpPr txBox="1"/>
            <p:nvPr/>
          </p:nvSpPr>
          <p:spPr>
            <a:xfrm>
              <a:off x="3870451" y="1912858"/>
              <a:ext cx="67902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Specialization – Computer Systems &amp; Network </a:t>
              </a:r>
            </a:p>
            <a:p>
              <a:r>
                <a:rPr lang="en-US" dirty="0"/>
                <a:t>Engineering</a:t>
              </a:r>
            </a:p>
          </p:txBody>
        </p:sp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39F68EC3-D4CA-6AEC-42A8-5D8E4DDB76FC}"/>
                </a:ext>
              </a:extLst>
            </p:cNvPr>
            <p:cNvSpPr txBox="1">
              <a:spLocks/>
            </p:cNvSpPr>
            <p:nvPr/>
          </p:nvSpPr>
          <p:spPr>
            <a:xfrm>
              <a:off x="3864259" y="495057"/>
              <a:ext cx="6796479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/>
                <a:t>IT22228130 </a:t>
              </a:r>
              <a:br>
                <a:rPr lang="en-US" b="1" dirty="0"/>
              </a:br>
              <a:r>
                <a:rPr lang="en-US" b="1" dirty="0"/>
                <a:t>Rathnayake G.R.M.S.D.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7222960-12F5-67B2-135F-8CCC830585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05" y="2029132"/>
            <a:ext cx="2799735" cy="27997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A4DB40-2F7E-D364-3CD9-0F3DDE9EC6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44669-FD1E-C4B3-F176-E518621C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B02C4-02C4-A22B-8209-B5AFE686B79A}"/>
              </a:ext>
            </a:extLst>
          </p:cNvPr>
          <p:cNvSpPr txBox="1"/>
          <p:nvPr/>
        </p:nvSpPr>
        <p:spPr>
          <a:xfrm>
            <a:off x="3317372" y="6364344"/>
            <a:ext cx="5557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8640"/>
            <a:r>
              <a:rPr lang="en-AU" sz="2000" b="1">
                <a:solidFill>
                  <a:schemeClr val="bg2">
                    <a:lumMod val="10000"/>
                  </a:schemeClr>
                </a:solidFill>
                <a:latin typeface="+mj-lt"/>
                <a:cs typeface="Poppins" panose="00000500000000000000" pitchFamily="2" charset="0"/>
              </a:rPr>
              <a:t>IT22228130</a:t>
            </a:r>
            <a:r>
              <a:rPr lang="en-US" sz="2000" b="1">
                <a:solidFill>
                  <a:schemeClr val="bg2">
                    <a:lumMod val="10000"/>
                  </a:schemeClr>
                </a:solidFill>
                <a:latin typeface="+mj-lt"/>
                <a:cs typeface="Poppins" panose="00000500000000000000" pitchFamily="2" charset="0"/>
              </a:rPr>
              <a:t> | Rathnayake G.R.M.S.D. | 25-26J-002  </a:t>
            </a:r>
          </a:p>
        </p:txBody>
      </p:sp>
    </p:spTree>
    <p:extLst>
      <p:ext uri="{BB962C8B-B14F-4D97-AF65-F5344CB8AC3E}">
        <p14:creationId xmlns:p14="http://schemas.microsoft.com/office/powerpoint/2010/main" val="2445013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1ECD-07ED-DDF7-ECAD-5546E0E43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echnological background">
            <a:extLst>
              <a:ext uri="{FF2B5EF4-FFF2-40B4-BE49-F238E27FC236}">
                <a16:creationId xmlns:a16="http://schemas.microsoft.com/office/drawing/2014/main" id="{A7F11B99-2956-19FC-A2AB-7F5EB9959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6" name="Group 16">
            <a:extLst>
              <a:ext uri="{FF2B5EF4-FFF2-40B4-BE49-F238E27FC236}">
                <a16:creationId xmlns:a16="http://schemas.microsoft.com/office/drawing/2014/main" id="{67345473-BBB8-86D9-702F-57C47724FB2F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9902952" y="237744"/>
            <a:ext cx="2022097" cy="2532888"/>
            <a:chOff x="0" y="0"/>
            <a:chExt cx="1673574" cy="2096327"/>
          </a:xfrm>
        </p:grpSpPr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BDE3F0B6-83F1-6005-FE49-27FB4DAC80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673574" cy="2096327"/>
            </a:xfrm>
            <a:custGeom>
              <a:avLst/>
              <a:gdLst/>
              <a:ahLst/>
              <a:cxnLst/>
              <a:rect l="l" t="t" r="r" b="b"/>
              <a:pathLst>
                <a:path w="1673574" h="2096327">
                  <a:moveTo>
                    <a:pt x="0" y="0"/>
                  </a:moveTo>
                  <a:lnTo>
                    <a:pt x="1673574" y="0"/>
                  </a:lnTo>
                  <a:lnTo>
                    <a:pt x="1673574" y="2096327"/>
                  </a:lnTo>
                  <a:lnTo>
                    <a:pt x="0" y="2096327"/>
                  </a:lnTo>
                  <a:close/>
                </a:path>
              </a:pathLst>
            </a:custGeom>
            <a:blipFill>
              <a:blip r:embed="rId3"/>
              <a:stretch>
                <a:fillRect l="-40762" r="-43722" b="-47818"/>
              </a:stretch>
            </a:blip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6B6D19-7F2D-D35F-BC36-E7A50662B0B6}"/>
              </a:ext>
            </a:extLst>
          </p:cNvPr>
          <p:cNvGrpSpPr/>
          <p:nvPr/>
        </p:nvGrpSpPr>
        <p:grpSpPr>
          <a:xfrm>
            <a:off x="4657345" y="464274"/>
            <a:ext cx="7267704" cy="5538012"/>
            <a:chOff x="4657345" y="464274"/>
            <a:chExt cx="7267704" cy="553801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5F3668-3FA0-714E-FFA7-69D4524D2C73}"/>
                </a:ext>
              </a:extLst>
            </p:cNvPr>
            <p:cNvSpPr txBox="1"/>
            <p:nvPr/>
          </p:nvSpPr>
          <p:spPr>
            <a:xfrm>
              <a:off x="4732463" y="2770632"/>
              <a:ext cx="7192586" cy="323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Environment-Aware Swarm Coordination</a:t>
              </a:r>
              <a:endParaRPr lang="en-US" sz="2400" b="1" dirty="0"/>
            </a:p>
            <a:p>
              <a:r>
                <a:rPr lang="en-US" sz="2400" b="1" dirty="0"/>
                <a:t>Description:</a:t>
              </a:r>
              <a:br>
                <a:rPr lang="en-US" sz="2400" dirty="0"/>
              </a:br>
              <a:r>
                <a:rPr lang="en-US" sz="2400" dirty="0"/>
                <a:t>Decentralized swarm control adapting to wave, current, and debris conditions</a:t>
              </a:r>
            </a:p>
            <a:p>
              <a:r>
                <a:rPr lang="en-US" sz="2400" b="1" dirty="0"/>
                <a:t>Novelty:</a:t>
              </a:r>
              <a:br>
                <a:rPr lang="en-US" sz="2400" dirty="0"/>
              </a:br>
              <a:r>
                <a:rPr lang="en-US" sz="2400" dirty="0"/>
                <a:t>Real-time environment-driven adaptive coordination under low-bandwidth constraints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C03AF0-9E29-B73A-03B9-BA3F85EF4748}"/>
                </a:ext>
              </a:extLst>
            </p:cNvPr>
            <p:cNvSpPr txBox="1"/>
            <p:nvPr/>
          </p:nvSpPr>
          <p:spPr>
            <a:xfrm>
              <a:off x="4663537" y="1789837"/>
              <a:ext cx="67902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Specialization – Computer Systems &amp; Network </a:t>
              </a:r>
            </a:p>
            <a:p>
              <a:r>
                <a:rPr lang="en-US" dirty="0"/>
                <a:t>Engineering</a:t>
              </a: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E5651B48-1760-DB81-7B1D-0DDD93AFB8AF}"/>
                </a:ext>
              </a:extLst>
            </p:cNvPr>
            <p:cNvSpPr txBox="1">
              <a:spLocks/>
            </p:cNvSpPr>
            <p:nvPr/>
          </p:nvSpPr>
          <p:spPr>
            <a:xfrm>
              <a:off x="4657345" y="464274"/>
              <a:ext cx="6796479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/>
                <a:t>IT22253576 </a:t>
              </a:r>
              <a:br>
                <a:rPr lang="en-US" b="1" dirty="0"/>
              </a:br>
              <a:r>
                <a:rPr lang="en-US" b="1" dirty="0"/>
                <a:t>Abeysinghe P.T.G.S.R.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54D057E-979D-9BA4-ECBF-5B7FDA7FDA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B430-9BBF-8BA0-559D-FB5679E8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E972E-D797-1396-73F9-EB0F29173254}"/>
              </a:ext>
            </a:extLst>
          </p:cNvPr>
          <p:cNvSpPr txBox="1"/>
          <p:nvPr/>
        </p:nvSpPr>
        <p:spPr>
          <a:xfrm>
            <a:off x="3317372" y="6364344"/>
            <a:ext cx="5557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8640"/>
            <a:r>
              <a:rPr lang="en-AU" sz="2000" b="1">
                <a:solidFill>
                  <a:schemeClr val="bg2">
                    <a:lumMod val="10000"/>
                  </a:schemeClr>
                </a:solidFill>
                <a:latin typeface="+mj-lt"/>
                <a:cs typeface="Poppins" panose="00000500000000000000" pitchFamily="2" charset="0"/>
              </a:rPr>
              <a:t>IT22253576</a:t>
            </a:r>
            <a:r>
              <a:rPr lang="en-US" sz="2000" b="1">
                <a:solidFill>
                  <a:schemeClr val="bg2">
                    <a:lumMod val="10000"/>
                  </a:schemeClr>
                </a:solidFill>
                <a:latin typeface="+mj-lt"/>
                <a:cs typeface="Poppins" panose="00000500000000000000" pitchFamily="2" charset="0"/>
              </a:rPr>
              <a:t> | Abeysinghe P.T.G.S.R. | 25-26J-002  </a:t>
            </a:r>
          </a:p>
        </p:txBody>
      </p:sp>
    </p:spTree>
    <p:extLst>
      <p:ext uri="{BB962C8B-B14F-4D97-AF65-F5344CB8AC3E}">
        <p14:creationId xmlns:p14="http://schemas.microsoft.com/office/powerpoint/2010/main" val="4144074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FF039-92CB-46B1-4554-A72739B9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echnological background">
            <a:extLst>
              <a:ext uri="{FF2B5EF4-FFF2-40B4-BE49-F238E27FC236}">
                <a16:creationId xmlns:a16="http://schemas.microsoft.com/office/drawing/2014/main" id="{8EF4CC2D-97C4-56C3-3C54-8B803CD851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E865ED3-2E97-9C9B-56D9-F8FE575951AC}"/>
              </a:ext>
            </a:extLst>
          </p:cNvPr>
          <p:cNvGrpSpPr/>
          <p:nvPr/>
        </p:nvGrpSpPr>
        <p:grpSpPr>
          <a:xfrm>
            <a:off x="4657345" y="464274"/>
            <a:ext cx="7192586" cy="5238479"/>
            <a:chOff x="4657345" y="464274"/>
            <a:chExt cx="7192586" cy="431079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578BA2-7D9F-6C6D-D696-003CBC61236B}"/>
                </a:ext>
              </a:extLst>
            </p:cNvPr>
            <p:cNvSpPr txBox="1"/>
            <p:nvPr/>
          </p:nvSpPr>
          <p:spPr>
            <a:xfrm>
              <a:off x="4657345" y="1963746"/>
              <a:ext cx="7192586" cy="2811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Environment-Aware Swarm Coordination</a:t>
              </a:r>
            </a:p>
            <a:p>
              <a:endParaRPr lang="en-US" sz="2400" b="1" dirty="0"/>
            </a:p>
            <a:p>
              <a:r>
                <a:rPr lang="en-US" sz="2400" b="1" dirty="0"/>
                <a:t>Description:</a:t>
              </a:r>
              <a:br>
                <a:rPr lang="en-US" sz="2400" dirty="0"/>
              </a:br>
              <a:r>
                <a:rPr lang="en-US" sz="2400" dirty="0"/>
                <a:t>Edge ML for Debris Detection &amp; Drift Prediction</a:t>
              </a:r>
            </a:p>
            <a:p>
              <a:r>
                <a:rPr lang="en-US" sz="2400" b="1" dirty="0"/>
                <a:t>Novelty:</a:t>
              </a:r>
              <a:br>
                <a:rPr lang="en-US" sz="2400" dirty="0"/>
              </a:br>
              <a:r>
                <a:rPr lang="en-US" dirty="0"/>
                <a:t>Hybrid edge–central ML framework with federated-style updates, combining low-cost local inference with global intelligence. 	</a:t>
              </a:r>
            </a:p>
            <a:p>
              <a:endParaRPr lang="en-US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FAAB7F-FDDB-7960-CFE0-68374F6E8D2A}"/>
                </a:ext>
              </a:extLst>
            </p:cNvPr>
            <p:cNvSpPr txBox="1"/>
            <p:nvPr/>
          </p:nvSpPr>
          <p:spPr>
            <a:xfrm>
              <a:off x="4663537" y="1789837"/>
              <a:ext cx="6790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E217B299-F229-31C5-EA73-F087071ED804}"/>
                </a:ext>
              </a:extLst>
            </p:cNvPr>
            <p:cNvSpPr txBox="1">
              <a:spLocks/>
            </p:cNvSpPr>
            <p:nvPr/>
          </p:nvSpPr>
          <p:spPr>
            <a:xfrm>
              <a:off x="4657345" y="464274"/>
              <a:ext cx="6796479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/>
                <a:t>Member 04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E3FFDFF-CE9D-6A7C-A5C7-37DD6E4A0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34312-C594-5968-5821-475B26A4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7614A-B7CC-FAF1-2F47-1A0025B4549D}"/>
              </a:ext>
            </a:extLst>
          </p:cNvPr>
          <p:cNvSpPr txBox="1"/>
          <p:nvPr/>
        </p:nvSpPr>
        <p:spPr>
          <a:xfrm>
            <a:off x="3317372" y="6364344"/>
            <a:ext cx="5557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8640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+mj-lt"/>
                <a:cs typeface="Poppins" panose="00000500000000000000" pitchFamily="2" charset="0"/>
              </a:rPr>
              <a:t>Member 04</a:t>
            </a:r>
          </a:p>
        </p:txBody>
      </p:sp>
    </p:spTree>
    <p:extLst>
      <p:ext uri="{BB962C8B-B14F-4D97-AF65-F5344CB8AC3E}">
        <p14:creationId xmlns:p14="http://schemas.microsoft.com/office/powerpoint/2010/main" val="2767394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7B018-F5A9-65C9-0937-352602EA2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BF1D154C-3123-8C05-1A56-672DD18A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192596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F6566A-675B-DD6B-188A-90FB2EB2C9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05263C-EB24-D309-6E6A-AC6BE90D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F5699-0979-18DE-7D6E-900412B4FA42}"/>
              </a:ext>
            </a:extLst>
          </p:cNvPr>
          <p:cNvSpPr txBox="1"/>
          <p:nvPr/>
        </p:nvSpPr>
        <p:spPr>
          <a:xfrm>
            <a:off x="2464748" y="1214377"/>
            <a:ext cx="928056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🔹 Results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Improved </a:t>
            </a:r>
            <a:r>
              <a:rPr lang="en-US" sz="2000" b="1" dirty="0"/>
              <a:t>area coverage efficiency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Stable </a:t>
            </a:r>
            <a:r>
              <a:rPr lang="en-US" sz="2000" b="1" dirty="0"/>
              <a:t>adaptive swarm formation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Reliable </a:t>
            </a:r>
            <a:r>
              <a:rPr lang="en-US" sz="2000" b="1" dirty="0"/>
              <a:t>LoRa communication performance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Faster </a:t>
            </a:r>
            <a:r>
              <a:rPr lang="en-US" sz="2000" b="1" dirty="0"/>
              <a:t>recovery from node failures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Reduced </a:t>
            </a:r>
            <a:r>
              <a:rPr lang="en-US" sz="2000" b="1" dirty="0"/>
              <a:t>energy consumption</a:t>
            </a:r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🔹 Testimonials / Evaluation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Successfully validated in </a:t>
            </a:r>
            <a:r>
              <a:rPr lang="en-US" sz="2000" b="1" dirty="0"/>
              <a:t>simulation environment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Outperformed </a:t>
            </a:r>
            <a:r>
              <a:rPr lang="en-US" sz="2000" b="1" dirty="0"/>
              <a:t>non-adaptive baseline approaches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Demonstrated </a:t>
            </a:r>
            <a:r>
              <a:rPr lang="en-US" sz="2000" b="1" dirty="0"/>
              <a:t>robust decentralized coordination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C8A1D-AD82-B902-2277-C75AB51C2A05}"/>
              </a:ext>
            </a:extLst>
          </p:cNvPr>
          <p:cNvSpPr txBox="1"/>
          <p:nvPr/>
        </p:nvSpPr>
        <p:spPr>
          <a:xfrm>
            <a:off x="2464748" y="607801"/>
            <a:ext cx="848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Results &amp; Testimonials</a:t>
            </a:r>
          </a:p>
        </p:txBody>
      </p:sp>
    </p:spTree>
    <p:extLst>
      <p:ext uri="{BB962C8B-B14F-4D97-AF65-F5344CB8AC3E}">
        <p14:creationId xmlns:p14="http://schemas.microsoft.com/office/powerpoint/2010/main" val="4012068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879D1-946A-A108-A9F4-932E5D28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C01CEF7D-76DF-0BC8-D666-341A28F78D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192596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7D8A59-9C11-82F7-98C4-0E7C683A8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6E8BF-0AE6-F005-7CFA-BD1E2188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49661-5D86-0E01-6846-8A36311E83F8}"/>
              </a:ext>
            </a:extLst>
          </p:cNvPr>
          <p:cNvSpPr txBox="1"/>
          <p:nvPr/>
        </p:nvSpPr>
        <p:spPr>
          <a:xfrm>
            <a:off x="2464748" y="1214377"/>
            <a:ext cx="928056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🔹 Limitations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Tested only in </a:t>
            </a:r>
            <a:r>
              <a:rPr lang="en-US" sz="2000" b="1" dirty="0"/>
              <a:t>simulation (no full real-world deployment)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Limited by </a:t>
            </a:r>
            <a:r>
              <a:rPr lang="en-US" sz="2000" b="1" dirty="0"/>
              <a:t>LoRa bandwidth constraints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ML accuracy depends on </a:t>
            </a:r>
            <a:r>
              <a:rPr lang="en-US" sz="2000" b="1" dirty="0"/>
              <a:t>dataset quality</a:t>
            </a:r>
            <a:r>
              <a:rPr lang="en-US" sz="2000" dirty="0"/>
              <a:t> 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🔹 Future Improvements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Real-world </a:t>
            </a:r>
            <a:r>
              <a:rPr lang="en-US" sz="2000" b="1" dirty="0"/>
              <a:t>ASV implementation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Improve </a:t>
            </a:r>
            <a:r>
              <a:rPr lang="en-US" sz="2000" b="1" dirty="0"/>
              <a:t>AI model accuracy &amp; speed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Hybrid communication (LoRa + other networks)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Advanced swarm intelligence.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D650E2-78FE-28EF-8318-96FBEC4C6F94}"/>
              </a:ext>
            </a:extLst>
          </p:cNvPr>
          <p:cNvSpPr txBox="1"/>
          <p:nvPr/>
        </p:nvSpPr>
        <p:spPr>
          <a:xfrm>
            <a:off x="2464748" y="607801"/>
            <a:ext cx="848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Limitations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465152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66AC-5413-7FE2-7156-E294844A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737D0C68-81C7-C658-AED9-0BD23DCDF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192596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3920EB-1B47-7410-521E-42DAF9A8A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BB7C64-F677-AECC-C65B-7A0968C5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BCFFC-2958-6143-893E-3C0DB6927757}"/>
              </a:ext>
            </a:extLst>
          </p:cNvPr>
          <p:cNvSpPr txBox="1"/>
          <p:nvPr/>
        </p:nvSpPr>
        <p:spPr>
          <a:xfrm>
            <a:off x="2660057" y="2045983"/>
            <a:ext cx="8485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Thank You for your guidance and advices in this entire project ….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You guys are amazing……!</a:t>
            </a:r>
          </a:p>
        </p:txBody>
      </p:sp>
    </p:spTree>
    <p:extLst>
      <p:ext uri="{BB962C8B-B14F-4D97-AF65-F5344CB8AC3E}">
        <p14:creationId xmlns:p14="http://schemas.microsoft.com/office/powerpoint/2010/main" val="3241395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bef7e19daa0d389b559f873c5a3e553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060a19f19fc398f1deb5a7ac3ca80118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2E0D73-852A-4206-87E8-073CF7E0571E}">
  <ds:schemaRefs>
    <ds:schemaRef ds:uri="http://purl.org/dc/dcmitype/"/>
    <ds:schemaRef ds:uri="fdf483cb-5937-4af3-915e-55fd2d7d3a90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42d1e402-c42d-419a-bd83-d8d365e28f1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15ED3A4-C6DE-41A6-AFEF-BA76565DCD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9BFC2D-673E-460A-889A-018227B556D4}"/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675</Words>
  <Application>Microsoft Office PowerPoint</Application>
  <PresentationFormat>Widescreen</PresentationFormat>
  <Paragraphs>122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RATHNAYAKA G R M S D it22228130</dc:creator>
  <cp:lastModifiedBy>RATHNAYAKA G R M S D it22228130</cp:lastModifiedBy>
  <cp:revision>11</cp:revision>
  <dcterms:created xsi:type="dcterms:W3CDTF">2026-01-05T12:18:04Z</dcterms:created>
  <dcterms:modified xsi:type="dcterms:W3CDTF">2026-05-04T09:04:07Z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